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18046192da4510" /><Relationship Type="http://schemas.openxmlformats.org/officeDocument/2006/relationships/extended-properties" Target="/docProps/app.xml" Id="Re511019597004b8a" /><Relationship Type="http://schemas.openxmlformats.org/officeDocument/2006/relationships/officeDocument" Target="/ppt/presentation.xml" Id="R8fd7727e2dda488a" /></Relationships>
</file>

<file path=ppt/presentation.xml><?xml version="1.0" encoding="utf-8"?>
<p:presentation xmlns:p="http://schemas.openxmlformats.org/presentationml/2006/main">
  <p:sldMasterIdLst>
    <p:sldMasterId xmlns:r="http://schemas.openxmlformats.org/officeDocument/2006/relationships" id="2147483648" r:id="R7c41aae226204a41"/>
  </p:sldMasterIdLst>
  <p:notesMasterIdLst>
    <p:notesMasterId xmlns:r="http://schemas.openxmlformats.org/officeDocument/2006/relationships" r:id="Radd5e94d13804b2d"/>
  </p:notesMasterIdLst>
  <p:sldIdLst>
    <p:sldId xmlns:r="http://schemas.openxmlformats.org/officeDocument/2006/relationships" id="256" r:id="Rf2054cc51aeb4f31"/>
    <p:sldId xmlns:r="http://schemas.openxmlformats.org/officeDocument/2006/relationships" id="257" r:id="R4c812620fca44034"/>
    <p:sldId xmlns:r="http://schemas.openxmlformats.org/officeDocument/2006/relationships" id="258" r:id="R53a8032ddfce4372"/>
    <p:sldId xmlns:r="http://schemas.openxmlformats.org/officeDocument/2006/relationships" id="259" r:id="Rc62c8b188f494459"/>
    <p:sldId xmlns:r="http://schemas.openxmlformats.org/officeDocument/2006/relationships" id="260" r:id="R729363a000874b16"/>
    <p:sldId xmlns:r="http://schemas.openxmlformats.org/officeDocument/2006/relationships" id="261" r:id="R3a44a5d859b649ee"/>
    <p:sldId xmlns:r="http://schemas.openxmlformats.org/officeDocument/2006/relationships" id="262" r:id="Rec391d4ffd784d66"/>
    <p:sldId xmlns:r="http://schemas.openxmlformats.org/officeDocument/2006/relationships" id="263" r:id="R810dcfa32f5a4160"/>
    <p:sldId xmlns:r="http://schemas.openxmlformats.org/officeDocument/2006/relationships" id="264" r:id="R8fcdca15f5e24082"/>
    <p:sldId xmlns:r="http://schemas.openxmlformats.org/officeDocument/2006/relationships" id="265" r:id="R2eb784b2effa40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ea97a517ae45c4" /><Relationship Type="http://schemas.openxmlformats.org/officeDocument/2006/relationships/slideMaster" Target="/ppt/slideMasters/slideMaster1.xml" Id="R7c41aae226204a41" /><Relationship Type="http://schemas.openxmlformats.org/officeDocument/2006/relationships/notesMaster" Target="/ppt/notesMasters/notesMaster1.xml" Id="Radd5e94d13804b2d" /><Relationship Type="http://schemas.openxmlformats.org/officeDocument/2006/relationships/presProps" Target="/ppt/presProps.xml" Id="Ra96e05ac7c7d4145" /><Relationship Type="http://schemas.openxmlformats.org/officeDocument/2006/relationships/tableStyles" Target="/ppt/tableStyles.xml" Id="Rea63ef6dc1ed4dbd" /><Relationship Type="http://schemas.openxmlformats.org/officeDocument/2006/relationships/slide" Target="/ppt/slides/slide1.xml" Id="Rf2054cc51aeb4f31" /><Relationship Type="http://schemas.openxmlformats.org/officeDocument/2006/relationships/slide" Target="/ppt/slides/slide2.xml" Id="R4c812620fca44034" /><Relationship Type="http://schemas.openxmlformats.org/officeDocument/2006/relationships/slide" Target="/ppt/slides/slide3.xml" Id="R53a8032ddfce4372" /><Relationship Type="http://schemas.openxmlformats.org/officeDocument/2006/relationships/slide" Target="/ppt/slides/slide4.xml" Id="Rc62c8b188f494459" /><Relationship Type="http://schemas.openxmlformats.org/officeDocument/2006/relationships/slide" Target="/ppt/slides/slide5.xml" Id="R729363a000874b16" /><Relationship Type="http://schemas.openxmlformats.org/officeDocument/2006/relationships/slide" Target="/ppt/slides/slide6.xml" Id="R3a44a5d859b649ee" /><Relationship Type="http://schemas.openxmlformats.org/officeDocument/2006/relationships/slide" Target="/ppt/slides/slide7.xml" Id="Rec391d4ffd784d66" /><Relationship Type="http://schemas.openxmlformats.org/officeDocument/2006/relationships/slide" Target="/ppt/slides/slide8.xml" Id="R810dcfa32f5a4160" /><Relationship Type="http://schemas.openxmlformats.org/officeDocument/2006/relationships/slide" Target="/ppt/slides/slide9.xml" Id="R8fcdca15f5e24082" /><Relationship Type="http://schemas.openxmlformats.org/officeDocument/2006/relationships/slide" Target="/ppt/slides/slide10.xml" Id="R2eb784b2effa40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47f4c1d1b04d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e63289fd4f4933" /><Relationship Type="http://schemas.openxmlformats.org/officeDocument/2006/relationships/notesMaster" Target="/ppt/notesMasters/notesMaster1.xml" Id="Ra7eddd9371da49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cd908a80224bc5" /><Relationship Type="http://schemas.openxmlformats.org/officeDocument/2006/relationships/notesMaster" Target="/ppt/notesMasters/notesMaster1.xml" Id="R22b877e8f9174c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7a6343789e4f05" /><Relationship Type="http://schemas.openxmlformats.org/officeDocument/2006/relationships/notesMaster" Target="/ppt/notesMasters/notesMaster1.xml" Id="R9d53cd4733d64f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df7445468d44fd" /><Relationship Type="http://schemas.openxmlformats.org/officeDocument/2006/relationships/notesMaster" Target="/ppt/notesMasters/notesMaster1.xml" Id="R07de1c355a1745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77288ea41a4d10" /><Relationship Type="http://schemas.openxmlformats.org/officeDocument/2006/relationships/notesMaster" Target="/ppt/notesMasters/notesMaster1.xml" Id="Ra4934b94615f41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553fe14d714043" /><Relationship Type="http://schemas.openxmlformats.org/officeDocument/2006/relationships/notesMaster" Target="/ppt/notesMasters/notesMaster1.xml" Id="Re19668a6740146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1a638a3b224760" /><Relationship Type="http://schemas.openxmlformats.org/officeDocument/2006/relationships/notesMaster" Target="/ppt/notesMasters/notesMaster1.xml" Id="R2717a09fded24b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e1dc2d2a8c47d1" /><Relationship Type="http://schemas.openxmlformats.org/officeDocument/2006/relationships/notesMaster" Target="/ppt/notesMasters/notesMaster1.xml" Id="Re950b14d753348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e5bda5dd604d9b" /><Relationship Type="http://schemas.openxmlformats.org/officeDocument/2006/relationships/notesMaster" Target="/ppt/notesMasters/notesMaster1.xml" Id="Rbc3446c2268543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6a0b6f14d84cd1" /><Relationship Type="http://schemas.openxmlformats.org/officeDocument/2006/relationships/notesMaster" Target="/ppt/notesMasters/notesMaster1.xml" Id="R43ce15655e0445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asks a simple household question: when should flexible electricity use be shifted in the Netherlands to reduce both price and measured carbon intensity? I built the complete path from four external APIs to SQL, analysis, machine learning, Tableau, and Streamlit.</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important methodological change is that sustainability is measured directly with carbon intensity. Renewable share helps explain the system, but it is not used as a proxy label. I compare real consecutive four-hour windows and use price as the first tie-breaker.</a:t>
            </a:r>
          </a:p>
          <a:p xmlns:a="http://schemas.openxmlformats.org/drawingml/2006/main">
            <a:r>
              <a:t/>
            </a:r>
          </a:p>
          <a:p xmlns:a="http://schemas.openxmlformats.org/drawingml/2006/main">
            <a:r>
              <a:t>[Sources]</a:t>
            </a:r>
          </a:p>
          <a:p xmlns:a="http://schemas.openxmlformats.org/drawingml/2006/main">
            <a:r>
              <a:t>- src/transform.py</a:t>
            </a:r>
          </a:p>
          <a:p xmlns:a="http://schemas.openxmlformats.org/drawingml/2006/main">
            <a:r>
              <a:t>- notebooks/smart-power-eda.ipynb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has three auditable stages. Ingestion preserves raw UTC data. Transformation accepts a carbon hour only when all four quarter-hour values exist. The validated hourly table then feeds the same analytical and user-facing outputs.</a:t>
            </a:r>
          </a:p>
          <a:p xmlns:a="http://schemas.openxmlformats.org/drawingml/2006/main">
            <a:r>
              <a:t/>
            </a:r>
          </a:p>
          <a:p xmlns:a="http://schemas.openxmlformats.org/drawingml/2006/main">
            <a:r>
              <a:t>[Sources]</a:t>
            </a:r>
          </a:p>
          <a:p xmlns:a="http://schemas.openxmlformats.org/drawingml/2006/main">
            <a:r>
              <a:t>- src/ingest.py</a:t>
            </a:r>
          </a:p>
          <a:p xmlns:a="http://schemas.openxmlformats.org/drawingml/2006/main">
            <a:r>
              <a:t>- notebooks/smart-power-transform.ipynb</a:t>
            </a:r>
          </a:p>
          <a:p xmlns:a="http://schemas.openxmlformats.org/drawingml/2006/main">
            <a:r>
              <a:t>- sql/00_create_database.sql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validation, there are 1,170 unique hourly observations and no nulls in the final analytical columns. The sample average is 13 cents per kilowatt-hour, 402.9 grams of CO2 per kilowatt-hour, and 21.5 percent renewable share.</a:t>
            </a:r>
          </a:p>
          <a:p xmlns:a="http://schemas.openxmlformats.org/drawingml/2006/main">
            <a:r>
              <a:t/>
            </a:r>
          </a:p>
          <a:p xmlns:a="http://schemas.openxmlformats.org/drawingml/2006/main">
            <a:r>
              <a:t>[Sources]</a:t>
            </a:r>
          </a:p>
          <a:p xmlns:a="http://schemas.openxmlformats.org/drawingml/2006/main">
            <a:r>
              <a:t>- dashboard/smart_power_for_tableau.csv</a:t>
            </a:r>
          </a:p>
          <a:p xmlns:a="http://schemas.openxmlformats.org/drawingml/2006/main">
            <a:r>
              <a:t>- sql/02_quality_checks.sql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shows the share of qualifying observations by local hour. The four orange bars are the selected window. Twelve to sixteen and thirteen to seventeen have the same qualifying rate, so the lower average price selects twelve to sixteen. The end time is exclusive: the included hours are twelve, thirteen, fourteen, and fifteen.</a:t>
            </a:r>
          </a:p>
          <a:p xmlns:a="http://schemas.openxmlformats.org/drawingml/2006/main">
            <a:r>
              <a:t/>
            </a:r>
          </a:p>
          <a:p xmlns:a="http://schemas.openxmlformats.org/drawingml/2006/main">
            <a:r>
              <a:t>[Sources]</a:t>
            </a:r>
          </a:p>
          <a:p xmlns:a="http://schemas.openxmlformats.org/drawingml/2006/main">
            <a:r>
              <a:t>- dashboard/smart_power_for_tableau.csv</a:t>
            </a:r>
          </a:p>
          <a:p xmlns:a="http://schemas.openxmlformats.org/drawingml/2006/main">
            <a:r>
              <a:t>- notebooks/smart-power-eda.ipynb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Price and carbon intensity have a moderate positive Pearson correlation of 0.495 in the validated sample. Renewable share and carbon intensity have a stronger negative correlation of minus 0.710. This supports renewable share as useful context while keeping carbon as the direct sustainability measure.</a:t>
            </a:r>
          </a:p>
          <a:p xmlns:a="http://schemas.openxmlformats.org/drawingml/2006/main">
            <a:r>
              <a:t/>
            </a:r>
          </a:p>
          <a:p xmlns:a="http://schemas.openxmlformats.org/drawingml/2006/main">
            <a:r>
              <a:t>[Sources]</a:t>
            </a:r>
          </a:p>
          <a:p xmlns:a="http://schemas.openxmlformats.org/drawingml/2006/main">
            <a:r>
              <a:t>- notebooks/smart-power-eda.ipynb</a:t>
            </a:r>
          </a:p>
          <a:p xmlns:a="http://schemas.openxmlformats.org/drawingml/2006/main">
            <a:r>
              <a:t>- dashboard/smart_power_for_tableau.csv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machine-learning objective is price prediction, not a claim of perfect scheduling. A tuned Gradient Boosting model reaches an R-squared of 0.9425 and RMSE of 0.0189 euros per kilowatt-hour on the chronological test set. That RMSE is around forty percent better than the persistence baseline.</a:t>
            </a:r>
          </a:p>
          <a:p xmlns:a="http://schemas.openxmlformats.org/drawingml/2006/main">
            <a:r>
              <a:t/>
            </a:r>
          </a:p>
          <a:p xmlns:a="http://schemas.openxmlformats.org/drawingml/2006/main">
            <a:r>
              <a:t>[Sources]</a:t>
            </a:r>
          </a:p>
          <a:p xmlns:a="http://schemas.openxmlformats.org/drawingml/2006/main">
            <a:r>
              <a:t>- notebooks/smart-power-ml.ipynb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deliverables demonstrate two types of communication. Tableau provides a fixed executive dashboard, while Streamlit lets a user explore alternative objectives and device assumptions. Both use the validated historical data and avoid presenting the result as live advice.</a:t>
            </a:r>
          </a:p>
          <a:p xmlns:a="http://schemas.openxmlformats.org/drawingml/2006/main">
            <a:r>
              <a:t/>
            </a:r>
          </a:p>
          <a:p xmlns:a="http://schemas.openxmlformats.org/drawingml/2006/main">
            <a:r>
              <a:t>[Sources]</a:t>
            </a:r>
          </a:p>
          <a:p xmlns:a="http://schemas.openxmlformats.org/drawingml/2006/main">
            <a:r>
              <a:t>- dashboard/smart_power_dashboard.twb</a:t>
            </a:r>
          </a:p>
          <a:p xmlns:a="http://schemas.openxmlformats.org/drawingml/2006/main">
            <a:r>
              <a:t>- streamlit_app.py</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limitation is scope. This is roughly sixty-eight calendar days in late spring and summer, with 460 requested clock hours absent after strict Wattnet validation. I preserve those gaps. The carbon methodology is global life-cycle, and the correlations do not prove causality. A full-year live version is the natural next step.</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notebooks/smart-power-transform.ipynb</a:t>
            </a:r>
          </a:p>
          <a:p xmlns:a="http://schemas.openxmlformats.org/drawingml/2006/main">
            <a:r>
              <a:t>- notebooks/smart-power-eda.ipynb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conclusion is to shift flexible use to twelve to sixteen local time for this sample. The broader project value is the traceable workflow: data collection, validation, SQL, EDA, machine learning, and decision products all agree on the same definition and result. Thank you.</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notebooks/smart-power-eda.ipynb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3990b25d2d45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acd2f7e8124f1c" /><Relationship Type="http://schemas.openxmlformats.org/officeDocument/2006/relationships/slideLayout" Target="/ppt/slideLayouts/slideLayout1.xml" Id="R15a619414bc240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a619414bc240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579ed817d2450e" /><Relationship Type="http://schemas.openxmlformats.org/officeDocument/2006/relationships/notesSlide" Target="/ppt/notesSlides/notesSlide1.xml" Id="R23e967a1a1e647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2343633f5e495d" /><Relationship Type="http://schemas.openxmlformats.org/officeDocument/2006/relationships/notesSlide" Target="/ppt/notesSlides/notesSlide2.xml" Id="R8f1515fe57ae47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a46d286a1641b1" /><Relationship Type="http://schemas.openxmlformats.org/officeDocument/2006/relationships/notesSlide" Target="/ppt/notesSlides/notesSlide3.xml" Id="R02576c1ece2245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a87bfe59304b3f" /><Relationship Type="http://schemas.openxmlformats.org/officeDocument/2006/relationships/notesSlide" Target="/ppt/notesSlides/notesSlide4.xml" Id="Re401c5bc01ed4c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ef1130a60340ac" /><Relationship Type="http://schemas.openxmlformats.org/officeDocument/2006/relationships/chart" Target="/ppt/slides/charts/chart1.xml" Id="R2d75d181b1d044eb" /><Relationship Type="http://schemas.openxmlformats.org/officeDocument/2006/relationships/chart" Target="/ppt/slides/charts/chart2.xml" Id="Rec5589af0bef4449" /><Relationship Type="http://schemas.openxmlformats.org/officeDocument/2006/relationships/notesSlide" Target="/ppt/notesSlides/notesSlide5.xml" Id="Ra48b2cfe1faa48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372afb5e56485f" /><Relationship Type="http://schemas.openxmlformats.org/officeDocument/2006/relationships/chart" Target="/ppt/slides/charts/chart3.xml" Id="R404eb13733ec48e1" /><Relationship Type="http://schemas.openxmlformats.org/officeDocument/2006/relationships/chart" Target="/ppt/slides/charts/chart4.xml" Id="Rb9f4dce5b564489f" /><Relationship Type="http://schemas.openxmlformats.org/officeDocument/2006/relationships/notesSlide" Target="/ppt/notesSlides/notesSlide6.xml" Id="R515296a92afb42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0dcdf87ffe41ae" /><Relationship Type="http://schemas.openxmlformats.org/officeDocument/2006/relationships/notesSlide" Target="/ppt/notesSlides/notesSlide7.xml" Id="Rd105fec4f11c47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aad06f10fa4e4e" /><Relationship Type="http://schemas.openxmlformats.org/officeDocument/2006/relationships/notesSlide" Target="/ppt/notesSlides/notesSlide8.xml" Id="Rb372e5eed89642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0d70c386ffb41b4" /><Relationship Type="http://schemas.openxmlformats.org/officeDocument/2006/relationships/notesSlide" Target="/ppt/notesSlides/notesSlide9.xml" Id="R5e61b8d5f4fc4a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08f4c81bcb49f2" /><Relationship Type="http://schemas.openxmlformats.org/officeDocument/2006/relationships/notesSlide" Target="/ppt/notesSlides/notesSlide10.xml" Id="Rc374c22063944d9c" /></Relationships>
</file>

<file path=ppt/slides/charts/chart1.xml><?xml version="1.0" encoding="utf-8"?>
<c:chartSpace xmlns:c="http://schemas.openxmlformats.org/drawingml/2006/chart">
  <c:lang val="en-US"/>
  <c:chart>
    <c:plotArea>
      <c:barChart>
        <c:barDir val="col"/>
        <c:grouping val="clustered"/>
        <c:varyColors val="0"/>
        <c:ser>
          <c:idx val="0"/>
          <c:order val="0"/>
          <c:tx>
            <c:v>Series 1</c:v>
          </c:tx>
          <c:spPr>
            <a:solidFill xmlns:a="http://schemas.openxmlformats.org/drawingml/2006/main">
              <a:srgbClr val="6DCBF4"/>
            </a:solidFill>
          </c:spPr>
          <c:cat>
            <c:strLit>
              <c:ptCount val="4"/>
              <c:pt idx="0">
                <c:v>Category 1</c:v>
              </c:pt>
              <c:pt idx="1">
                <c:v>Category 2</c:v>
              </c:pt>
              <c:pt idx="2">
                <c:v>Category 3</c:v>
              </c:pt>
              <c:pt idx="3">
                <c:v>Category 4</c:v>
              </c:pt>
            </c:strLit>
          </c:cat>
          <c:val>
            <c:numLit>
              <c:formatCode>General</c:formatCode>
              <c:ptCount val="4"/>
              <c:pt idx="0">
                <c:v>1.6</c:v>
              </c:pt>
              <c:pt idx="1">
                <c:v>2.2</c:v>
              </c:pt>
              <c:pt idx="2">
                <c:v>3.5</c:v>
              </c:pt>
              <c:pt idx="3">
                <c:v>5.8</c:v>
              </c:pt>
            </c:numLit>
          </c:val>
        </c:ser>
        <c:ser>
          <c:idx val="1"/>
          <c:order val="1"/>
          <c:tx>
            <c:v>Series 2</c:v>
          </c:tx>
          <c:spPr>
            <a:solidFill xmlns:a="http://schemas.openxmlformats.org/drawingml/2006/main">
              <a:srgbClr val="3D8DFF"/>
            </a:solidFill>
          </c:spPr>
          <c:cat>
            <c:strLit>
              <c:ptCount val="4"/>
              <c:pt idx="0">
                <c:v>Category 1</c:v>
              </c:pt>
              <c:pt idx="1">
                <c:v>Category 2</c:v>
              </c:pt>
              <c:pt idx="2">
                <c:v>Category 3</c:v>
              </c:pt>
              <c:pt idx="3">
                <c:v>Category 4</c:v>
              </c:pt>
            </c:strLit>
          </c:cat>
          <c:val>
            <c:numLit>
              <c:formatCode>General</c:formatCode>
              <c:ptCount val="4"/>
              <c:pt idx="0">
                <c:v>1.7</c:v>
              </c:pt>
              <c:pt idx="1">
                <c:v>2.4</c:v>
              </c:pt>
              <c:pt idx="2">
                <c:v>5</c:v>
              </c:pt>
              <c:pt idx="3">
                <c:v>8</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8"/>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2"/>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stacked"/>
        <c:varyColors val="0"/>
        <c:ser>
          <c:idx val="0"/>
          <c:order val="0"/>
          <c:tx>
            <c:v>Other hours</c:v>
          </c:tx>
          <c:spPr>
            <a:solidFill xmlns:a="http://schemas.openxmlformats.org/drawingml/2006/main">
              <a:srgbClr val="C9AEF2"/>
            </a:solidFill>
          </c:spPr>
          <c:cat>
            <c:numLit>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0</c:v>
              </c:pt>
              <c:pt idx="1">
                <c:v>0.043478260869565216</c:v>
              </c:pt>
              <c:pt idx="2">
                <c:v>0.020833333333333332</c:v>
              </c:pt>
              <c:pt idx="3">
                <c:v>0.041666666666666664</c:v>
              </c:pt>
              <c:pt idx="4">
                <c:v>0.041666666666666664</c:v>
              </c:pt>
              <c:pt idx="5">
                <c:v>0.041666666666666664</c:v>
              </c:pt>
              <c:pt idx="6">
                <c:v>0.04081632653061224</c:v>
              </c:pt>
              <c:pt idx="7">
                <c:v>0.06</c:v>
              </c:pt>
              <c:pt idx="8">
                <c:v>0.12</c:v>
              </c:pt>
              <c:pt idx="9">
                <c:v>0.2</c:v>
              </c:pt>
              <c:pt idx="10">
                <c:v>0.24489795918367346</c:v>
              </c:pt>
              <c:pt idx="11">
                <c:v>0.2857142857142857</c:v>
              </c:pt>
              <c:pt idx="12">
                <c:v>0</c:v>
              </c:pt>
              <c:pt idx="13">
                <c:v>0</c:v>
              </c:pt>
              <c:pt idx="14">
                <c:v>0</c:v>
              </c:pt>
              <c:pt idx="15">
                <c:v>0</c:v>
              </c:pt>
              <c:pt idx="16">
                <c:v>0.32653061224489793</c:v>
              </c:pt>
              <c:pt idx="17">
                <c:v>0.2653061224489796</c:v>
              </c:pt>
              <c:pt idx="18">
                <c:v>0.12244897959183673</c:v>
              </c:pt>
              <c:pt idx="19">
                <c:v>0</c:v>
              </c:pt>
              <c:pt idx="20">
                <c:v>0</c:v>
              </c:pt>
              <c:pt idx="21">
                <c:v>0</c:v>
              </c:pt>
              <c:pt idx="22">
                <c:v>0</c:v>
              </c:pt>
              <c:pt idx="23">
                <c:v>0</c:v>
              </c:pt>
            </c:numLit>
          </c:val>
        </c:ser>
        <c:ser>
          <c:idx val="1"/>
          <c:order val="1"/>
          <c:tx>
            <c:v>Recommended 12:00–16:00</c:v>
          </c:tx>
          <c:spPr>
            <a:solidFill xmlns:a="http://schemas.openxmlformats.org/drawingml/2006/main">
              <a:srgbClr val="F28E2B"/>
            </a:solidFill>
          </c:spPr>
          <c:cat>
            <c:numLit>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0</c:v>
              </c:pt>
              <c:pt idx="1">
                <c:v>0</c:v>
              </c:pt>
              <c:pt idx="2">
                <c:v>0</c:v>
              </c:pt>
              <c:pt idx="3">
                <c:v>0</c:v>
              </c:pt>
              <c:pt idx="4">
                <c:v>0</c:v>
              </c:pt>
              <c:pt idx="5">
                <c:v>0</c:v>
              </c:pt>
              <c:pt idx="6">
                <c:v>0</c:v>
              </c:pt>
              <c:pt idx="7">
                <c:v>0</c:v>
              </c:pt>
              <c:pt idx="8">
                <c:v>0</c:v>
              </c:pt>
              <c:pt idx="9">
                <c:v>0</c:v>
              </c:pt>
              <c:pt idx="10">
                <c:v>0</c:v>
              </c:pt>
              <c:pt idx="11">
                <c:v>0</c:v>
              </c:pt>
              <c:pt idx="12">
                <c:v>0.32653061224489793</c:v>
              </c:pt>
              <c:pt idx="13">
                <c:v>0.3877551020408163</c:v>
              </c:pt>
              <c:pt idx="14">
                <c:v>0.40816326530612246</c:v>
              </c:pt>
              <c:pt idx="15">
                <c:v>0.3673469387755102</c:v>
              </c:pt>
              <c:pt idx="16">
                <c:v>0</c:v>
              </c:pt>
              <c:pt idx="17">
                <c:v>0</c:v>
              </c:pt>
              <c:pt idx="18">
                <c:v>0</c:v>
              </c:pt>
              <c:pt idx="19">
                <c:v>0</c:v>
              </c:pt>
              <c:pt idx="20">
                <c:v>0</c:v>
              </c:pt>
              <c:pt idx="21">
                <c:v>0</c:v>
              </c:pt>
              <c:pt idx="22">
                <c:v>0</c:v>
              </c:pt>
              <c:pt idx="23">
                <c:v>0</c:v>
              </c:pt>
            </c:numLit>
          </c:val>
        </c:ser>
        <c:dLbls>
          <c:showLegendKey val="0"/>
          <c:showVal val="0"/>
          <c:showCatName val="0"/>
          <c:showSerName val="0"/>
          <c:showPercent val="0"/>
          <c:showBubbleSize val="0"/>
          <c:showLeaderLines val="0"/>
        </c:dLbls>
        <c:gapWidth val="4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0.45"/>
          <c:min val="0"/>
        </c:scaling>
        <c:delete val="0"/>
        <c:axPos val="l"/>
        <c:majorGridlines>
          <c:spPr>
            <a:ln xmlns:a="http://schemas.openxmlformats.org/drawingml/2006/main" w="9525">
              <a:solidFill>
                <a:srgbClr val="EDEDED"/>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0.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lineChart>
        <c:grouping val="standard"/>
        <c:varyColors val="0"/>
        <c:ser>
          <c:idx val="0"/>
          <c:order val="0"/>
          <c:tx>
            <c:v>Series 1</c:v>
          </c:tx>
          <c:spPr>
            <a:ln xmlns:a="http://schemas.openxmlformats.org/drawingml/2006/main" w="28575">
              <a:solidFill>
                <a:srgbClr val="3D8DFF"/>
              </a:solidFill>
              <a:prstDash val="solid"/>
            </a:ln>
          </c:spPr>
          <c:marker>
            <c:symbol val="circle"/>
            <c:size val="6"/>
            <c:spPr>
              <a:solidFill xmlns:a="http://schemas.openxmlformats.org/drawingml/2006/main">
                <a:srgbClr val="3D8DFF"/>
              </a:solidFill>
            </c:spPr>
          </c:marker>
          <c:cat>
            <c:strLit>
              <c:ptCount val="4"/>
              <c:pt idx="0">
                <c:v>Category 1</c:v>
              </c:pt>
              <c:pt idx="1">
                <c:v>Category 2</c:v>
              </c:pt>
              <c:pt idx="2">
                <c:v>Category 3</c:v>
              </c:pt>
              <c:pt idx="3">
                <c:v>Category 4</c:v>
              </c:pt>
            </c:strLit>
          </c:cat>
          <c:val>
            <c:numLit>
              <c:formatCode>General</c:formatCode>
              <c:ptCount val="4"/>
              <c:pt idx="0">
                <c:v>1.6</c:v>
              </c:pt>
              <c:pt idx="1">
                <c:v>2.2</c:v>
              </c:pt>
              <c:pt idx="2">
                <c:v>3.5</c:v>
              </c:pt>
              <c:pt idx="3">
                <c:v>5.8</c:v>
              </c:pt>
            </c:numLit>
          </c:val>
        </c:ser>
        <c:ser>
          <c:idx val="1"/>
          <c:order val="1"/>
          <c:tx>
            <c:v>Series 2</c:v>
          </c:tx>
          <c:spPr>
            <a:ln xmlns:a="http://schemas.openxmlformats.org/drawingml/2006/main" w="28575">
              <a:solidFill>
                <a:srgbClr val="D0EDFA"/>
              </a:solidFill>
              <a:prstDash val="solid"/>
            </a:ln>
          </c:spPr>
          <c:marker>
            <c:symbol val="circle"/>
            <c:size val="6"/>
            <c:spPr>
              <a:solidFill xmlns:a="http://schemas.openxmlformats.org/drawingml/2006/main">
                <a:srgbClr val="D0EDFA"/>
              </a:solidFill>
            </c:spPr>
          </c:marker>
          <c:cat>
            <c:strLit>
              <c:ptCount val="4"/>
              <c:pt idx="0">
                <c:v>Category 1</c:v>
              </c:pt>
              <c:pt idx="1">
                <c:v>Category 2</c:v>
              </c:pt>
              <c:pt idx="2">
                <c:v>Category 3</c:v>
              </c:pt>
              <c:pt idx="3">
                <c:v>Category 4</c:v>
              </c:pt>
            </c:strLit>
          </c:cat>
          <c:val>
            <c:numLit>
              <c:formatCode>General</c:formatCode>
              <c:ptCount val="4"/>
              <c:pt idx="0">
                <c:v>1.7</c:v>
              </c:pt>
              <c:pt idx="1">
                <c:v>2.4</c:v>
              </c:pt>
              <c:pt idx="2">
                <c:v>5</c:v>
              </c:pt>
              <c:pt idx="3">
                <c:v>8</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8"/>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2"/>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col"/>
        <c:grouping val="stacked"/>
        <c:varyColors val="0"/>
        <c:ser>
          <c:idx val="0"/>
          <c:order val="0"/>
          <c:tx>
            <c:v>Positive</c:v>
          </c:tx>
          <c:spPr>
            <a:solidFill xmlns:a="http://schemas.openxmlformats.org/drawingml/2006/main">
              <a:srgbClr val="F28E2B"/>
            </a:solidFill>
          </c:spPr>
          <c:cat>
            <c:strLit>
              <c:ptCount val="2"/>
              <c:pt idx="0">
                <c:v>Price vs carbon</c:v>
              </c:pt>
              <c:pt idx="1">
                <c:v>Renewables vs carbon</c:v>
              </c:pt>
            </c:strLit>
          </c:cat>
          <c:val>
            <c:numLit>
              <c:formatCode>0</c:formatCode>
              <c:ptCount val="2"/>
              <c:pt idx="0">
                <c:v>49.5</c:v>
              </c:pt>
              <c:pt idx="1">
                <c:v>0</c:v>
              </c:pt>
            </c:numLit>
          </c:val>
        </c:ser>
        <c:ser>
          <c:idx val="1"/>
          <c:order val="1"/>
          <c:tx>
            <c:v>Negative</c:v>
          </c:tx>
          <c:spPr>
            <a:solidFill xmlns:a="http://schemas.openxmlformats.org/drawingml/2006/main">
              <a:srgbClr val="26ABA4"/>
            </a:solidFill>
          </c:spPr>
          <c:invertIfNegative val="0"/>
          <c:cat>
            <c:strLit>
              <c:ptCount val="2"/>
              <c:pt idx="0">
                <c:v>Price vs carbon</c:v>
              </c:pt>
              <c:pt idx="1">
                <c:v>Renewables vs carbon</c:v>
              </c:pt>
            </c:strLit>
          </c:cat>
          <c:val>
            <c:numLit>
              <c:formatCode>0</c:formatCode>
              <c:ptCount val="2"/>
              <c:pt idx="0">
                <c:v>0</c:v>
              </c:pt>
              <c:pt idx="1">
                <c:v>-71</c:v>
              </c:pt>
            </c:numLit>
          </c:val>
        </c:ser>
        <c:dLbls>
          <c:dLblPos val="inEnd"/>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latin typeface="Helvetica Neue"/>
                <a:ea typeface="Helvetica Neue"/>
                <a:cs typeface="Helvetica Neue"/>
              </a:defRPr>
            </a:pPr>
          </a:p>
        </c:txPr>
        <c:crossAx val="48672768"/>
      </c:catAx>
      <c:valAx>
        <c:axId val="48672768"/>
        <c:scaling>
          <c:orientation val="minMax"/>
          <c:max val="100"/>
          <c:min val="-100"/>
        </c:scaling>
        <c:delete val="0"/>
        <c:axPos val="l"/>
        <c:majorGridlines>
          <c:spPr>
            <a:ln xmlns:a="http://schemas.openxmlformats.org/drawingml/2006/main" w="9525">
              <a:solidFill>
                <a:srgbClr val="EDEDED"/>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000000"/>
                </a:solidFill>
                <a:latin typeface="Helvetica Neue"/>
                <a:ea typeface="Helvetica Neue"/>
                <a:cs typeface="Helvetica Neue"/>
              </a:defRPr>
            </a:pPr>
          </a:p>
        </c:txPr>
        <c:crossAx val="48650112"/>
        <c:crossBetween val="between"/>
        <c:majorUnit val="5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A71701AD-A558-4B39-9E91-ADA6429F6C98}"/>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8000"/>
              </a:lnSpc>
              <a:buNone/>
              <a:defRPr sz="6000">
                <a:solidFill>
                  <a:srgbClr val="000000"/>
                </a:solidFill>
                <a:latin typeface="Helvetica Neue"/>
                <a:ea typeface="Helvetica Neue"/>
                <a:cs typeface="Helvetica Neue"/>
              </a:defRPr>
            </a:pPr>
            <a:r>
              <a:rPr sz="5100" b="1">
                <a:solidFill>
                  <a:srgbClr val="000000"/>
                </a:solidFill>
                <a:latin typeface="Helvetica Neue"/>
                <a:ea typeface="Helvetica Neue"/>
                <a:cs typeface="Helvetica Neue"/>
              </a:rPr>
              <a:t>Smart Power Netherlands
Cheaper and lower-carbon electricity</a:t>
            </a:r>
          </a:p>
        </p:txBody>
      </p:sp>
      <p:sp>
        <p:nvSpPr>
          <p:cNvPr id="2" name="Subtitle-4-2">
            <a:extLst xmlns:a="http://schemas.openxmlformats.org/drawingml/2006/main">
              <a:ext uri="{FF2B5EF4-FFF2-40B4-BE49-F238E27FC236}">
                <a16:creationId xmlns:a16="http://schemas.microsoft.com/office/drawing/2014/main" id="{9A02C46B-A5CA-4827-9605-7E70A5F879CB}"/>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End-to-end data analytics · Vildan Pirpiroglu · August 2026</a:t>
            </a:r>
          </a:p>
        </p:txBody>
      </p:sp>
      <p:sp>
        <p:nvSpPr>
          <p:cNvPr id="3" name="Subtitle-4-3">
            <a:extLst xmlns:a="http://schemas.openxmlformats.org/drawingml/2006/main">
              <a:ext uri="{FF2B5EF4-FFF2-40B4-BE49-F238E27FC236}">
                <a16:creationId xmlns:a16="http://schemas.microsoft.com/office/drawing/2014/main" id="{15C0CBA5-05AB-4263-9231-ECFCAB61250B}"/>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800" b="1">
                <a:solidFill>
                  <a:srgbClr val="26ABA4"/>
                </a:solidFill>
                <a:latin typeface="Helvetica Neue"/>
                <a:ea typeface="Helvetica Neue"/>
                <a:cs typeface="Helvetica Neue"/>
              </a:rPr>
              <a:t>IRONHACK FINAL PROJECT</a:t>
            </a:r>
          </a:p>
        </p:txBody>
      </p:sp>
      <p:sp>
        <p:nvSpPr>
          <p:cNvPr id="4" name="">
            <a:extLst xmlns:a="http://schemas.openxmlformats.org/drawingml/2006/main">
              <a:ext uri="{FF2B5EF4-FFF2-40B4-BE49-F238E27FC236}">
                <a16:creationId xmlns:a16="http://schemas.microsoft.com/office/drawing/2014/main" id="{7EDE0A47-4F0A-4FA0-9380-08C211F4B68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6ABA4"/>
          </a:solidFill>
          <a:ln xmlns:a="http://schemas.openxmlformats.org/drawingml/2006/main" w="0">
            <a:solidFill>
              <a:srgbClr val="26ABA4"/>
            </a:solidFill>
            <a:prstDash val="solid"/>
          </a:ln>
        </p:spPr>
      </p:sp>
    </p:spTree>
    <p:extLst>
      <p:ext uri="{BB962C8B-B14F-4D97-AF65-F5344CB8AC3E}">
        <p14:creationId xmlns:p14="http://schemas.microsoft.com/office/powerpoint/2010/main" val="15673963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Google-Shape-534-p58-1">
            <a:extLst xmlns:a="http://schemas.openxmlformats.org/drawingml/2006/main">
              <a:ext uri="{FF2B5EF4-FFF2-40B4-BE49-F238E27FC236}">
                <a16:creationId xmlns:a16="http://schemas.microsoft.com/office/drawing/2014/main" id="{41755CED-6853-4B16-8897-0861DB5D579F}"/>
              </a:ext>
            </a:extLst>
          </p:cNvPr>
          <p:cNvSpPr>
            <a:spLocks xmlns:a="http://schemas.openxmlformats.org/drawingml/2006/main" noGrp="1"/>
          </p:cNvSpPr>
          <p:nvPr/>
        </p:nvSpPr>
        <p:spPr>
          <a:xfrm xmlns:a="http://schemas.openxmlformats.org/drawingml/2006/main">
            <a:off x="393668" y="1838801"/>
            <a:ext cx="5533168" cy="415556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900"/>
              </a:spcAft>
              <a:buNone/>
              <a:defRPr sz="2400">
                <a:solidFill>
                  <a:srgbClr val="000000"/>
                </a:solidFill>
                <a:latin typeface="Helvetica Neue"/>
                <a:ea typeface="Helvetica Neue"/>
                <a:cs typeface="Helvetica Neue"/>
              </a:defRPr>
            </a:pPr>
            <a:r>
              <a:rPr sz="2100" b="1">
                <a:solidFill>
                  <a:srgbClr val="26ABA4"/>
                </a:solidFill>
                <a:latin typeface="Helvetica Neue"/>
                <a:ea typeface="Helvetica Neue"/>
                <a:cs typeface="Helvetica Neue"/>
              </a:rPr>
              <a:t>The user problem</a:t>
            </a:r>
          </a:p>
          <a:p xmlns:a="http://schemas.openxmlformats.org/drawingml/2006/main">
            <a:pPr algn="l">
              <a:lnSpc>
                <a:spcPct val="108000"/>
              </a:lnSpc>
              <a:buNone/>
              <a:defRPr sz="24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Flexible loads such as EV charging, laundry, or a dishwasher can move across the day. The goal is to find a practical consecutive four-hour window—not isolated best hours.</a:t>
            </a:r>
          </a:p>
          <a:p xmlns:a="http://schemas.openxmlformats.org/drawingml/2006/main">
            <a:pPr algn="l">
              <a:lnSpc>
                <a:spcPct val="108000"/>
              </a:lnSpc>
              <a:spcBef>
                <a:spcPts val="900"/>
              </a:spcBef>
              <a:buNone/>
              <a:defRPr sz="2400">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Decision output: a clear Europe/Amsterdam local-time recommendation.</a:t>
            </a:r>
          </a:p>
          <a:p xmlns:a="http://schemas.openxmlformats.org/drawingml/2006/main">
            <a:pPr algn="l">
              <a:lnSpc>
                <a:spcPct val="108000"/>
              </a:lnSpc>
              <a:spcBef>
                <a:spcPts val="650"/>
              </a:spcBef>
              <a:buNone/>
              <a:defRPr sz="2400">
                <a:solidFill>
                  <a:srgbClr val="000000"/>
                </a:solidFill>
                <a:latin typeface="Helvetica Neue"/>
                <a:ea typeface="Helvetica Neue"/>
                <a:cs typeface="Helvetica Neue"/>
              </a:defRPr>
            </a:pPr>
            <a:r>
              <a:rPr sz="1500" b="0">
                <a:solidFill>
                  <a:srgbClr val="555555"/>
                </a:solidFill>
                <a:latin typeface="Helvetica Neue"/>
                <a:ea typeface="Helvetica Neue"/>
                <a:cs typeface="Helvetica Neue"/>
              </a:rPr>
              <a:t>Scope: historical planning, not live dispatch.</a:t>
            </a:r>
          </a:p>
        </p:txBody>
      </p:sp>
      <p:sp>
        <p:nvSpPr>
          <p:cNvPr id="2" name="Google-Shape-532-p58-3">
            <a:extLst xmlns:a="http://schemas.openxmlformats.org/drawingml/2006/main">
              <a:ext uri="{FF2B5EF4-FFF2-40B4-BE49-F238E27FC236}">
                <a16:creationId xmlns:a16="http://schemas.microsoft.com/office/drawing/2014/main" id="{848B1A3C-1C33-4AED-99BB-0106E191D6C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3" name="Google-Shape-533-p58-4">
            <a:extLst xmlns:a="http://schemas.openxmlformats.org/drawingml/2006/main">
              <a:ext uri="{FF2B5EF4-FFF2-40B4-BE49-F238E27FC236}">
                <a16:creationId xmlns:a16="http://schemas.microsoft.com/office/drawing/2014/main" id="{CCB1265F-68E9-4E8B-B16E-C8A92E11F6D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One decision, two objectives</a:t>
            </a:r>
          </a:p>
        </p:txBody>
      </p:sp>
      <p:sp>
        <p:nvSpPr>
          <p:cNvPr id="4" name="Google-Shape-534-p58-5">
            <a:extLst xmlns:a="http://schemas.openxmlformats.org/drawingml/2006/main">
              <a:ext uri="{FF2B5EF4-FFF2-40B4-BE49-F238E27FC236}">
                <a16:creationId xmlns:a16="http://schemas.microsoft.com/office/drawing/2014/main" id="{EAB4E14A-A5BD-4587-94D4-6DEC76CA3924}"/>
              </a:ext>
            </a:extLst>
          </p:cNvPr>
          <p:cNvSpPr>
            <a:spLocks xmlns:a="http://schemas.openxmlformats.org/drawingml/2006/main" noGrp="1"/>
          </p:cNvSpPr>
          <p:nvPr/>
        </p:nvSpPr>
        <p:spPr>
          <a:xfrm xmlns:a="http://schemas.openxmlformats.org/drawingml/2006/main">
            <a:off x="6265069" y="2192655"/>
            <a:ext cx="5537168" cy="380171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900"/>
              </a:spcAft>
              <a:buNone/>
              <a:defRPr sz="2400">
                <a:solidFill>
                  <a:srgbClr val="000000"/>
                </a:solidFill>
                <a:latin typeface="Helvetica Neue"/>
                <a:ea typeface="Helvetica Neue"/>
                <a:cs typeface="Helvetica Neue"/>
              </a:defRPr>
            </a:pPr>
            <a:r>
              <a:rPr sz="2100" b="1">
                <a:solidFill>
                  <a:srgbClr val="F28E2B"/>
                </a:solidFill>
                <a:latin typeface="Helvetica Neue"/>
                <a:ea typeface="Helvetica Neue"/>
                <a:cs typeface="Helvetica Neue"/>
              </a:rPr>
              <a:t>Analytical definition</a:t>
            </a:r>
          </a:p>
          <a:p xmlns:a="http://schemas.openxmlformats.org/drawingml/2006/main">
            <a:pPr algn="l">
              <a:lnSpc>
                <a:spcPct val="108000"/>
              </a:lnSpc>
              <a:buNone/>
              <a:defRPr sz="24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Cheap = bottom price quartile.
Low-carbon = bottom carbon-intensity quartile.
Renewable share remains an explanatory variable.</a:t>
            </a:r>
          </a:p>
          <a:p xmlns:a="http://schemas.openxmlformats.org/drawingml/2006/main">
            <a:pPr algn="l">
              <a:lnSpc>
                <a:spcPct val="108000"/>
              </a:lnSpc>
              <a:spcBef>
                <a:spcPts val="900"/>
              </a:spcBef>
              <a:buNone/>
              <a:defRPr sz="240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Windows are ranked by qualifying rate, then average price and carbon intensity.</a:t>
            </a:r>
          </a:p>
        </p:txBody>
      </p:sp>
      <p:sp>
        <p:nvSpPr>
          <p:cNvPr id="5" name="">
            <a:extLst xmlns:a="http://schemas.openxmlformats.org/drawingml/2006/main">
              <a:ext uri="{FF2B5EF4-FFF2-40B4-BE49-F238E27FC236}">
                <a16:creationId xmlns:a16="http://schemas.microsoft.com/office/drawing/2014/main" id="{66303B05-6FB0-4E65-9D64-F0C65F51AAD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Tree>
    <p:extLst>
      <p:ext uri="{BB962C8B-B14F-4D97-AF65-F5344CB8AC3E}">
        <p14:creationId xmlns:p14="http://schemas.microsoft.com/office/powerpoint/2010/main" val="71184193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 name="Slide-Number-Placeholder-3-2">
            <a:extLst xmlns:a="http://schemas.openxmlformats.org/drawingml/2006/main">
              <a:ext uri="{FF2B5EF4-FFF2-40B4-BE49-F238E27FC236}">
                <a16:creationId xmlns:a16="http://schemas.microsoft.com/office/drawing/2014/main" id="{46DCA59D-B225-4D88-BF16-5562CC26569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2E826FEC-FF0C-42B1-A19C-62AA3B59D13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A traceable end-to-end workflow</a:t>
            </a:r>
          </a:p>
        </p:txBody>
      </p:sp>
      <p:cxnSp>
        <p:nvCxnSpPr>
          <p:cNvPr id="16"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9F83B400-6CDB-4A46-BFDD-D0A85EAE1700}"/>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43236ABB-59D3-426E-BCCD-140BE2732849}"/>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13BEBE97-BABD-4208-83E6-6BC91B9AB398}"/>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A2D598DB-94D2-4A12-A9BD-A6C2D75FF061}"/>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1600">
                <a:solidFill>
                  <a:srgbClr val="000000"/>
                </a:solidFill>
                <a:latin typeface="Helvetica Neue"/>
                <a:ea typeface="Helvetica Neue"/>
                <a:cs typeface="Helvetica Neue"/>
              </a:defRPr>
            </a:pPr>
            <a:r>
              <a:rPr sz="1425" b="1">
                <a:solidFill>
                  <a:srgbClr val="26ABA4"/>
                </a:solidFill>
                <a:latin typeface="Helvetica Neue"/>
                <a:ea typeface="Helvetica Neue"/>
                <a:cs typeface="Helvetica Neue"/>
              </a:rPr>
              <a:t>COLLECT</a:t>
            </a:r>
          </a:p>
        </p:txBody>
      </p:sp>
      <p:sp>
        <p:nvSpPr>
          <p:cNvPr id="8" name="Content-Placeholder-15-9">
            <a:extLst xmlns:a="http://schemas.openxmlformats.org/drawingml/2006/main">
              <a:ext uri="{FF2B5EF4-FFF2-40B4-BE49-F238E27FC236}">
                <a16:creationId xmlns:a16="http://schemas.microsoft.com/office/drawing/2014/main" id="{82FCA048-B9D4-46E5-B0DB-2651B27A99D2}"/>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1600">
                <a:solidFill>
                  <a:srgbClr val="000000"/>
                </a:solidFill>
                <a:latin typeface="Helvetica Neue"/>
                <a:ea typeface="Helvetica Neue"/>
                <a:cs typeface="Helvetica Neue"/>
              </a:defRPr>
            </a:pPr>
            <a:r>
              <a:rPr sz="1425" b="1">
                <a:solidFill>
                  <a:srgbClr val="F28E2B"/>
                </a:solidFill>
                <a:latin typeface="Helvetica Neue"/>
                <a:ea typeface="Helvetica Neue"/>
                <a:cs typeface="Helvetica Neue"/>
              </a:rPr>
              <a:t>VALIDATE</a:t>
            </a:r>
          </a:p>
        </p:txBody>
      </p:sp>
      <p:sp>
        <p:nvSpPr>
          <p:cNvPr id="9" name="Content-Placeholder-15-10">
            <a:extLst xmlns:a="http://schemas.openxmlformats.org/drawingml/2006/main">
              <a:ext uri="{FF2B5EF4-FFF2-40B4-BE49-F238E27FC236}">
                <a16:creationId xmlns:a16="http://schemas.microsoft.com/office/drawing/2014/main" id="{177FCCF0-F65B-4780-A507-3B47C0F63B2B}"/>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1600">
                <a:solidFill>
                  <a:srgbClr val="000000"/>
                </a:solidFill>
                <a:latin typeface="Helvetica Neue"/>
                <a:ea typeface="Helvetica Neue"/>
                <a:cs typeface="Helvetica Neue"/>
              </a:defRPr>
            </a:pPr>
            <a:r>
              <a:rPr sz="1425" b="1">
                <a:solidFill>
                  <a:srgbClr val="C9AEF2"/>
                </a:solidFill>
                <a:latin typeface="Helvetica Neue"/>
                <a:ea typeface="Helvetica Neue"/>
                <a:cs typeface="Helvetica Neue"/>
              </a:rPr>
              <a:t>DELIVER</a:t>
            </a:r>
          </a:p>
        </p:txBody>
      </p:sp>
      <p:sp>
        <p:nvSpPr>
          <p:cNvPr id="10" name="Text-Placeholder-16-11">
            <a:extLst xmlns:a="http://schemas.openxmlformats.org/drawingml/2006/main">
              <a:ext uri="{FF2B5EF4-FFF2-40B4-BE49-F238E27FC236}">
                <a16:creationId xmlns:a16="http://schemas.microsoft.com/office/drawing/2014/main" id="{E6E59982-1BFD-42A1-A91A-BBAA3103E49C}"/>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800"/>
              </a:spcAft>
              <a:buNone/>
              <a:defRPr sz="24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Hourly data layer</a:t>
            </a:r>
          </a:p>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UTC joins, four-point carbon completeness, range checks, MySQL schema, views, and repeatable QA.</a:t>
            </a:r>
          </a:p>
        </p:txBody>
      </p:sp>
      <p:sp>
        <p:nvSpPr>
          <p:cNvPr id="11" name="Text-Placeholder-16-12">
            <a:extLst xmlns:a="http://schemas.openxmlformats.org/drawingml/2006/main">
              <a:ext uri="{FF2B5EF4-FFF2-40B4-BE49-F238E27FC236}">
                <a16:creationId xmlns:a16="http://schemas.microsoft.com/office/drawing/2014/main" id="{AF462B9F-8CB2-4913-949D-7CEA458F8C0E}"/>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800"/>
              </a:spcAft>
              <a:buNone/>
              <a:defRPr sz="24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Four APIs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EnergyZero prices, ENTSO-E generation, Open-Meteo weather, and 15-minute Wattnet carbon intensity.</a:t>
            </a:r>
          </a:p>
        </p:txBody>
      </p:sp>
      <p:sp>
        <p:nvSpPr>
          <p:cNvPr id="12" name="Text-Placeholder-16-13">
            <a:extLst xmlns:a="http://schemas.openxmlformats.org/drawingml/2006/main">
              <a:ext uri="{FF2B5EF4-FFF2-40B4-BE49-F238E27FC236}">
                <a16:creationId xmlns:a16="http://schemas.microsoft.com/office/drawing/2014/main" id="{094170AA-5752-41D2-A97B-685222C3743A}"/>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800"/>
              </a:spcAft>
              <a:buNone/>
              <a:defRPr sz="24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Decision products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EDA, time-aware ML, Tableau dashboard, Streamlit prototype, and a reproducible GitHub repository.</a:t>
            </a:r>
          </a:p>
        </p:txBody>
      </p:sp>
      <p:sp>
        <p:nvSpPr>
          <p:cNvPr id="13" name="">
            <a:extLst xmlns:a="http://schemas.openxmlformats.org/drawingml/2006/main">
              <a:ext uri="{FF2B5EF4-FFF2-40B4-BE49-F238E27FC236}">
                <a16:creationId xmlns:a16="http://schemas.microsoft.com/office/drawing/2014/main" id="{B6E3E1C9-2CC9-43B9-8A25-89112D063A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6ABA4"/>
          </a:solidFill>
          <a:ln xmlns:a="http://schemas.openxmlformats.org/drawingml/2006/main" w="0">
            <a:solidFill>
              <a:srgbClr val="26ABA4"/>
            </a:solidFill>
            <a:prstDash val="solid"/>
          </a:ln>
        </p:spPr>
      </p:sp>
    </p:spTree>
    <p:extLst>
      <p:ext uri="{BB962C8B-B14F-4D97-AF65-F5344CB8AC3E}">
        <p14:creationId xmlns:p14="http://schemas.microsoft.com/office/powerpoint/2010/main" val="15585815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4" name="Rounded-Rectangle-5-1">
            <a:extLst xmlns:a="http://schemas.openxmlformats.org/drawingml/2006/main">
              <a:ext uri="{FF2B5EF4-FFF2-40B4-BE49-F238E27FC236}">
                <a16:creationId xmlns:a16="http://schemas.microsoft.com/office/drawing/2014/main" id="{56A7C9C8-1D17-400C-B172-13A078BFCE8C}"/>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52891629-C9EA-40DA-915B-6D82AE4B27F6}"/>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805710B8-6840-4941-BD6B-F87E02753C23}"/>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BDF7CCB8-0F97-4344-A600-DAE47B6FF44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5" name="Title-2-5">
            <a:extLst xmlns:a="http://schemas.openxmlformats.org/drawingml/2006/main">
              <a:ext uri="{FF2B5EF4-FFF2-40B4-BE49-F238E27FC236}">
                <a16:creationId xmlns:a16="http://schemas.microsoft.com/office/drawing/2014/main" id="{83A063FE-B5EE-4937-91D5-CF7E4B2FB10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final dataset is complete, unique, and carbon-aware</a:t>
            </a:r>
          </a:p>
        </p:txBody>
      </p:sp>
      <p:sp>
        <p:nvSpPr>
          <p:cNvPr id="6" name="Content-Placeholder-9-6">
            <a:extLst xmlns:a="http://schemas.openxmlformats.org/drawingml/2006/main">
              <a:ext uri="{FF2B5EF4-FFF2-40B4-BE49-F238E27FC236}">
                <a16:creationId xmlns:a16="http://schemas.microsoft.com/office/drawing/2014/main" id="{AF72FF77-76F0-492E-886F-62DCC467BD74}"/>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unique validated hours</a:t>
            </a:r>
          </a:p>
        </p:txBody>
      </p:sp>
      <p:sp>
        <p:nvSpPr>
          <p:cNvPr id="7" name="Content-Placeholder-10-7">
            <a:extLst xmlns:a="http://schemas.openxmlformats.org/drawingml/2006/main">
              <a:ext uri="{FF2B5EF4-FFF2-40B4-BE49-F238E27FC236}">
                <a16:creationId xmlns:a16="http://schemas.microsoft.com/office/drawing/2014/main" id="{9A97F953-3403-461E-87C1-93E361DEA99B}"/>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nulls or duplicate timestamps</a:t>
            </a:r>
          </a:p>
        </p:txBody>
      </p:sp>
      <p:sp>
        <p:nvSpPr>
          <p:cNvPr id="8" name="Content-Placeholder-11-8">
            <a:extLst xmlns:a="http://schemas.openxmlformats.org/drawingml/2006/main">
              <a:ext uri="{FF2B5EF4-FFF2-40B4-BE49-F238E27FC236}">
                <a16:creationId xmlns:a16="http://schemas.microsoft.com/office/drawing/2014/main" id="{CB486CE8-3E94-4296-B1A3-9B53D7CDCC40}"/>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independent data sources</a:t>
            </a:r>
          </a:p>
        </p:txBody>
      </p:sp>
      <p:sp>
        <p:nvSpPr>
          <p:cNvPr id="9" name="Content-Placeholder-9-9">
            <a:extLst xmlns:a="http://schemas.openxmlformats.org/drawingml/2006/main">
              <a:ext uri="{FF2B5EF4-FFF2-40B4-BE49-F238E27FC236}">
                <a16:creationId xmlns:a16="http://schemas.microsoft.com/office/drawing/2014/main" id="{4925F9DE-6EED-4A32-98D8-74E191BC4D2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3900" b="1">
                <a:solidFill>
                  <a:srgbClr val="000000"/>
                </a:solidFill>
                <a:latin typeface="Helvetica Neue"/>
                <a:ea typeface="Helvetica Neue"/>
                <a:cs typeface="Helvetica Neue"/>
              </a:rPr>
              <a:t>1,170</a:t>
            </a:r>
          </a:p>
        </p:txBody>
      </p:sp>
      <p:sp>
        <p:nvSpPr>
          <p:cNvPr id="10" name="Content-Placeholder-9-10">
            <a:extLst xmlns:a="http://schemas.openxmlformats.org/drawingml/2006/main">
              <a:ext uri="{FF2B5EF4-FFF2-40B4-BE49-F238E27FC236}">
                <a16:creationId xmlns:a16="http://schemas.microsoft.com/office/drawing/2014/main" id="{68EAC9DC-EBF6-4DA8-A7E4-565888041465}"/>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3900" b="1">
                <a:solidFill>
                  <a:srgbClr val="000000"/>
                </a:solidFill>
                <a:latin typeface="Helvetica Neue"/>
                <a:ea typeface="Helvetica Neue"/>
                <a:cs typeface="Helvetica Neue"/>
              </a:rPr>
              <a:t>4</a:t>
            </a:r>
          </a:p>
        </p:txBody>
      </p:sp>
      <p:sp>
        <p:nvSpPr>
          <p:cNvPr id="11" name="Content-Placeholder-9-11">
            <a:extLst xmlns:a="http://schemas.openxmlformats.org/drawingml/2006/main">
              <a:ext uri="{FF2B5EF4-FFF2-40B4-BE49-F238E27FC236}">
                <a16:creationId xmlns:a16="http://schemas.microsoft.com/office/drawing/2014/main" id="{B584CE13-D63B-4C1F-A35E-723568E70C7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3900" b="1">
                <a:solidFill>
                  <a:srgbClr val="000000"/>
                </a:solidFill>
                <a:latin typeface="Helvetica Neue"/>
                <a:ea typeface="Helvetica Neue"/>
                <a:cs typeface="Helvetica Neue"/>
              </a:rPr>
              <a:t>0</a:t>
            </a:r>
          </a:p>
        </p:txBody>
      </p:sp>
      <p:sp>
        <p:nvSpPr>
          <p:cNvPr id="12" name="Content-Placeholder-15-12">
            <a:extLst xmlns:a="http://schemas.openxmlformats.org/drawingml/2006/main">
              <a:ext uri="{FF2B5EF4-FFF2-40B4-BE49-F238E27FC236}">
                <a16:creationId xmlns:a16="http://schemas.microsoft.com/office/drawing/2014/main" id="{A2D56497-6F59-4C50-B7B7-CD39B28D2C16}"/>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500"/>
              </a:spcAft>
              <a:buNone/>
              <a:defRPr sz="1600">
                <a:solidFill>
                  <a:srgbClr val="000000"/>
                </a:solidFill>
                <a:latin typeface="Helvetica Neue"/>
                <a:ea typeface="Helvetica Neue"/>
                <a:cs typeface="Helvetica Neue"/>
              </a:defRPr>
            </a:pPr>
            <a:r>
              <a:rPr sz="1350" b="1">
                <a:solidFill>
                  <a:srgbClr val="26ABA4"/>
                </a:solidFill>
                <a:latin typeface="Helvetica Neue"/>
                <a:ea typeface="Helvetica Neue"/>
                <a:cs typeface="Helvetica Neue"/>
              </a:rPr>
              <a:t>VALIDATED ANALYSIS SET</a:t>
            </a:r>
          </a:p>
          <a:p xmlns:a="http://schemas.openxmlformats.org/drawingml/2006/main">
            <a:pPr algn="l">
              <a:lnSpc>
                <a:spcPct val="108000"/>
              </a:lnSpc>
              <a:buNone/>
              <a:defRPr sz="16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28 May–3 August 2026 · hourly UTC joins · local-time interpretation with Europe/Amsterdam</a:t>
            </a:r>
          </a:p>
        </p:txBody>
      </p:sp>
      <p:sp>
        <p:nvSpPr>
          <p:cNvPr id="13" name="">
            <a:extLst xmlns:a="http://schemas.openxmlformats.org/drawingml/2006/main">
              <a:ext uri="{FF2B5EF4-FFF2-40B4-BE49-F238E27FC236}">
                <a16:creationId xmlns:a16="http://schemas.microsoft.com/office/drawing/2014/main" id="{D42449FC-F17F-4940-B5BF-4EF92D12D7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C9AEF2"/>
          </a:solidFill>
          <a:ln xmlns:a="http://schemas.openxmlformats.org/drawingml/2006/main" w="0">
            <a:solidFill>
              <a:srgbClr val="C9AEF2"/>
            </a:solidFill>
            <a:prstDash val="solid"/>
          </a:ln>
        </p:spPr>
      </p:sp>
    </p:spTree>
    <p:extLst>
      <p:ext uri="{BB962C8B-B14F-4D97-AF65-F5344CB8AC3E}">
        <p14:creationId xmlns:p14="http://schemas.microsoft.com/office/powerpoint/2010/main" val="10027365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C420E3C1-99AD-4E32-88D0-87276F2DCA9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44FD9C37-32BB-4D39-9E1A-103F8A86567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Best four-hour window: 12:00–16:00</a:t>
            </a:r>
          </a:p>
        </p:txBody>
      </p:sp>
      <p:sp>
        <p:nvSpPr>
          <p:cNvPr id="3" name="Rounded-Rectangle-6-4">
            <a:extLst xmlns:a="http://schemas.openxmlformats.org/drawingml/2006/main">
              <a:ext uri="{FF2B5EF4-FFF2-40B4-BE49-F238E27FC236}">
                <a16:creationId xmlns:a16="http://schemas.microsoft.com/office/drawing/2014/main" id="{44367BD2-9CFF-4132-AC51-9717D8BDB4E9}"/>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D337AA4A-D11F-4115-A4E5-469D9CE50BFA}"/>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6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Tie resolved by price</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12:00–16:00 and 13:00–17:00 tie on qualifying rate; the earlier window averages €0.033/kWh versus €0.039/kWh.</a:t>
            </a:r>
          </a:p>
        </p:txBody>
      </p:sp>
      <p:sp>
        <p:nvSpPr>
          <p:cNvPr id="5" name="Rounded-Rectangle-8-6">
            <a:extLst xmlns:a="http://schemas.openxmlformats.org/drawingml/2006/main">
              <a:ext uri="{FF2B5EF4-FFF2-40B4-BE49-F238E27FC236}">
                <a16:creationId xmlns:a16="http://schemas.microsoft.com/office/drawing/2014/main" id="{0E06DADE-1044-4D78-ACA5-151B99911872}"/>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B9C5FE45-A3DE-4D7E-8619-B81A3539C028}"/>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6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37.2% qualifying rate</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The selected window contains the strongest historical concentration of hours that are both cheap and low-carbon.</a:t>
            </a:r>
          </a:p>
        </p:txBody>
      </p:sp>
      <p:sp>
        <p:nvSpPr>
          <p:cNvPr id="7" name="Rounded-Rectangle-1-8">
            <a:extLst xmlns:a="http://schemas.openxmlformats.org/drawingml/2006/main">
              <a:ext uri="{FF2B5EF4-FFF2-40B4-BE49-F238E27FC236}">
                <a16:creationId xmlns:a16="http://schemas.microsoft.com/office/drawing/2014/main" id="{C23FDA64-DA22-49ED-BDBA-4D2254D2955F}"/>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73D81911-5F5B-4092-ADDE-CD8550D37DF7}"/>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Aft>
                <a:spcPts val="6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164 qualifying hours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Across 1,170 validated observations, 164 fall below both first-quartile thresholds.</a:t>
            </a:r>
          </a:p>
        </p:txBody>
      </p:sp>
      <p:graphicFrame>
        <p:nvGraphicFramePr>
          <p:cNvPr id="21"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2d75d181b1d044eb"/>
          </a:graphicData>
        </a:graphic>
      </p:graphicFrame>
      <p:sp>
        <p:nvSpPr>
          <p:cNvPr id="10" name="">
            <a:extLst xmlns:a="http://schemas.openxmlformats.org/drawingml/2006/main">
              <a:ext uri="{FF2B5EF4-FFF2-40B4-BE49-F238E27FC236}">
                <a16:creationId xmlns:a16="http://schemas.microsoft.com/office/drawing/2014/main" id="{DDFEDECE-50B5-48F1-AD0E-F33627738831}"/>
              </a:ext>
            </a:extLst>
          </p:cNvPr>
          <p:cNvSpPr>
            <a:spLocks xmlns:a="http://schemas.openxmlformats.org/drawingml/2006/main" noGrp="1"/>
          </p:cNvSpPr>
          <p:nvPr/>
        </p:nvSpPr>
        <p:spPr>
          <a:xfrm xmlns:a="http://schemas.openxmlformats.org/drawingml/2006/main">
            <a:off x="333375" y="952500"/>
            <a:ext cx="5334000" cy="5619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graphicFrame>
        <p:nvGraphicFramePr>
          <p:cNvPr id="23" name="Chart"/>
          <p:cNvGraphicFramePr/>
          <p:nvPr/>
        </p:nvGraphicFramePr>
        <p:xfrm>
          <a:off xmlns:a="http://schemas.openxmlformats.org/drawingml/2006/main" x="447675" y="1219200"/>
          <a:ext xmlns:a="http://schemas.openxmlformats.org/drawingml/2006/main" cx="5095875" cy="4953000"/>
        </p:xfrm>
        <a:graphic xmlns:a="http://schemas.openxmlformats.org/drawingml/2006/main">
          <a:graphicData uri="http://schemas.openxmlformats.org/drawingml/2006/chart">
            <c:chart xmlns:r="http://schemas.openxmlformats.org/officeDocument/2006/relationships" xmlns:c="http://schemas.openxmlformats.org/drawingml/2006/chart" r:id="Rec5589af0bef4449"/>
          </a:graphicData>
        </a:graphic>
      </p:graphicFrame>
      <p:sp>
        <p:nvSpPr>
          <p:cNvPr id="12" name="">
            <a:extLst xmlns:a="http://schemas.openxmlformats.org/drawingml/2006/main">
              <a:ext uri="{FF2B5EF4-FFF2-40B4-BE49-F238E27FC236}">
                <a16:creationId xmlns:a16="http://schemas.microsoft.com/office/drawing/2014/main" id="{CA1B169A-DEFF-4C9B-8DF6-EFA0C2F417C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Tree>
    <p:extLst>
      <p:ext uri="{BB962C8B-B14F-4D97-AF65-F5344CB8AC3E}">
        <p14:creationId xmlns:p14="http://schemas.microsoft.com/office/powerpoint/2010/main" val="237787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 name="Slide-Number-Placeholder-3-2">
            <a:extLst xmlns:a="http://schemas.openxmlformats.org/drawingml/2006/main">
              <a:ext uri="{FF2B5EF4-FFF2-40B4-BE49-F238E27FC236}">
                <a16:creationId xmlns:a16="http://schemas.microsoft.com/office/drawing/2014/main" id="{82021E09-84DC-4305-A088-7F6BF742CFF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Title-10-3">
            <a:extLst xmlns:a="http://schemas.openxmlformats.org/drawingml/2006/main">
              <a:ext uri="{FF2B5EF4-FFF2-40B4-BE49-F238E27FC236}">
                <a16:creationId xmlns:a16="http://schemas.microsoft.com/office/drawing/2014/main" id="{B2222CAF-F557-4FCD-97D5-CBE9C22A347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Carbon intensity connects system conditions to price</a:t>
            </a:r>
          </a:p>
        </p:txBody>
      </p:sp>
      <p:sp>
        <p:nvSpPr>
          <p:cNvPr id="3" name="Rounded-Rectangle-36-4">
            <a:extLst xmlns:a="http://schemas.openxmlformats.org/drawingml/2006/main">
              <a:ext uri="{FF2B5EF4-FFF2-40B4-BE49-F238E27FC236}">
                <a16:creationId xmlns:a16="http://schemas.microsoft.com/office/drawing/2014/main" id="{79919D3A-57BE-418D-9874-EB456A1ECF92}"/>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Content-Placeholder-9-5">
            <a:extLst xmlns:a="http://schemas.openxmlformats.org/drawingml/2006/main">
              <a:ext uri="{FF2B5EF4-FFF2-40B4-BE49-F238E27FC236}">
                <a16:creationId xmlns:a16="http://schemas.microsoft.com/office/drawing/2014/main" id="{8EACD4ED-288B-48C8-8720-058D39670D63}"/>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3150" b="1">
                <a:solidFill>
                  <a:srgbClr val="F28E2B"/>
                </a:solidFill>
                <a:latin typeface="Helvetica Neue"/>
                <a:ea typeface="Helvetica Neue"/>
                <a:cs typeface="Helvetica Neue"/>
              </a:rPr>
              <a:t>+0.495</a:t>
            </a:r>
          </a:p>
        </p:txBody>
      </p:sp>
      <p:sp>
        <p:nvSpPr>
          <p:cNvPr id="5" name="Content-Placeholder-15-6">
            <a:extLst xmlns:a="http://schemas.openxmlformats.org/drawingml/2006/main">
              <a:ext uri="{FF2B5EF4-FFF2-40B4-BE49-F238E27FC236}">
                <a16:creationId xmlns:a16="http://schemas.microsoft.com/office/drawing/2014/main" id="{8BE3B8CD-4074-4706-BE16-B30F3543F34B}"/>
              </a:ext>
            </a:extLst>
          </p:cNvPr>
          <p:cNvSpPr>
            <a:spLocks xmlns:a="http://schemas.openxmlformats.org/drawingml/2006/main" noGrp="1"/>
          </p:cNvSpPr>
          <p:nvPr/>
        </p:nvSpPr>
        <p:spPr>
          <a:xfrm xmlns:a="http://schemas.openxmlformats.org/drawingml/2006/main">
            <a:off x="6575965"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Price ↔ carbon
moderate positive association</a:t>
            </a:r>
          </a:p>
        </p:txBody>
      </p:sp>
      <p:sp>
        <p:nvSpPr>
          <p:cNvPr id="6" name="Rounded-Rectangle-39-7">
            <a:extLst xmlns:a="http://schemas.openxmlformats.org/drawingml/2006/main">
              <a:ext uri="{FF2B5EF4-FFF2-40B4-BE49-F238E27FC236}">
                <a16:creationId xmlns:a16="http://schemas.microsoft.com/office/drawing/2014/main" id="{3D26E4DF-8890-443F-8AA2-38282C7E7611}"/>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7" name="Content-Placeholder-9-8">
            <a:extLst xmlns:a="http://schemas.openxmlformats.org/drawingml/2006/main">
              <a:ext uri="{FF2B5EF4-FFF2-40B4-BE49-F238E27FC236}">
                <a16:creationId xmlns:a16="http://schemas.microsoft.com/office/drawing/2014/main" id="{9FAFC1B1-B0B2-464B-98D3-1016B891BC18}"/>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3150" b="1">
                <a:solidFill>
                  <a:srgbClr val="26ABA4"/>
                </a:solidFill>
                <a:latin typeface="Helvetica Neue"/>
                <a:ea typeface="Helvetica Neue"/>
                <a:cs typeface="Helvetica Neue"/>
              </a:rPr>
              <a:t>−0.710</a:t>
            </a:r>
          </a:p>
        </p:txBody>
      </p:sp>
      <p:sp>
        <p:nvSpPr>
          <p:cNvPr id="8" name="Content-Placeholder-15-9">
            <a:extLst xmlns:a="http://schemas.openxmlformats.org/drawingml/2006/main">
              <a:ext uri="{FF2B5EF4-FFF2-40B4-BE49-F238E27FC236}">
                <a16:creationId xmlns:a16="http://schemas.microsoft.com/office/drawing/2014/main" id="{F996AC1F-CB12-4A91-BBFE-9EA4197D04C7}"/>
              </a:ext>
            </a:extLst>
          </p:cNvPr>
          <p:cNvSpPr>
            <a:spLocks xmlns:a="http://schemas.openxmlformats.org/drawingml/2006/main" noGrp="1"/>
          </p:cNvSpPr>
          <p:nvPr/>
        </p:nvSpPr>
        <p:spPr>
          <a:xfrm xmlns:a="http://schemas.openxmlformats.org/drawingml/2006/main">
            <a:off x="9528143"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Renewables ↔ carbon
strong negative association</a:t>
            </a:r>
          </a:p>
        </p:txBody>
      </p:sp>
      <p:sp>
        <p:nvSpPr>
          <p:cNvPr id="9" name="Content-Placeholder-2-10">
            <a:extLst xmlns:a="http://schemas.openxmlformats.org/drawingml/2006/main">
              <a:ext uri="{FF2B5EF4-FFF2-40B4-BE49-F238E27FC236}">
                <a16:creationId xmlns:a16="http://schemas.microsoft.com/office/drawing/2014/main" id="{D418E094-65BB-4C3C-96AB-08BC4F26890F}"/>
              </a:ext>
            </a:extLst>
          </p:cNvPr>
          <p:cNvSpPr>
            <a:spLocks xmlns:a="http://schemas.openxmlformats.org/drawingml/2006/main" noGrp="1"/>
          </p:cNvSpPr>
          <p:nvPr/>
        </p:nvSpPr>
        <p:spPr>
          <a:xfrm xmlns:a="http://schemas.openxmlformats.org/drawingml/2006/main">
            <a:off x="6261068" y="1955578"/>
            <a:ext cx="5539835"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Measured carbon intensity—not renewable share—is the sustainability outcome. The relationships are descriptive and do not establish causality.</a:t>
            </a:r>
          </a:p>
        </p:txBody>
      </p:sp>
      <p:graphicFrame>
        <p:nvGraphicFramePr>
          <p:cNvPr id="23" name="Chart"/>
          <p:cNvGraphicFramePr/>
          <p:nvPr/>
        </p:nvGraphicFramePr>
        <p:xfrm>
          <a:off xmlns:a="http://schemas.openxmlformats.org/drawingml/2006/main" x="385858" y="1254728"/>
          <a:ext xmlns:a="http://schemas.openxmlformats.org/drawingml/2006/main" cx="5534216" cy="5024533"/>
        </p:xfrm>
        <a:graphic xmlns:a="http://schemas.openxmlformats.org/drawingml/2006/main">
          <a:graphicData uri="http://schemas.openxmlformats.org/drawingml/2006/chart">
            <c:chart xmlns:r="http://schemas.openxmlformats.org/officeDocument/2006/relationships" xmlns:c="http://schemas.openxmlformats.org/drawingml/2006/chart" r:id="R404eb13733ec48e1"/>
          </a:graphicData>
        </a:graphic>
      </p:graphicFrame>
      <p:sp>
        <p:nvSpPr>
          <p:cNvPr id="11" name="">
            <a:extLst xmlns:a="http://schemas.openxmlformats.org/drawingml/2006/main">
              <a:ext uri="{FF2B5EF4-FFF2-40B4-BE49-F238E27FC236}">
                <a16:creationId xmlns:a16="http://schemas.microsoft.com/office/drawing/2014/main" id="{D2ED57C6-B5A1-4EEB-A9AA-FEA06D7442D2}"/>
              </a:ext>
            </a:extLst>
          </p:cNvPr>
          <p:cNvSpPr>
            <a:spLocks xmlns:a="http://schemas.openxmlformats.org/drawingml/2006/main" noGrp="1"/>
          </p:cNvSpPr>
          <p:nvPr/>
        </p:nvSpPr>
        <p:spPr>
          <a:xfrm xmlns:a="http://schemas.openxmlformats.org/drawingml/2006/main">
            <a:off x="304800" y="1095375"/>
            <a:ext cx="5762625" cy="5286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graphicFrame>
        <p:nvGraphicFramePr>
          <p:cNvPr id="25" name="Chart"/>
          <p:cNvGraphicFramePr/>
          <p:nvPr/>
        </p:nvGraphicFramePr>
        <p:xfrm>
          <a:off xmlns:a="http://schemas.openxmlformats.org/drawingml/2006/main" x="571500" y="1476375"/>
          <a:ext xmlns:a="http://schemas.openxmlformats.org/drawingml/2006/main" cx="5143500" cy="4333875"/>
        </p:xfrm>
        <a:graphic xmlns:a="http://schemas.openxmlformats.org/drawingml/2006/main">
          <a:graphicData uri="http://schemas.openxmlformats.org/drawingml/2006/chart">
            <c:chart xmlns:r="http://schemas.openxmlformats.org/officeDocument/2006/relationships" xmlns:c="http://schemas.openxmlformats.org/drawingml/2006/chart" r:id="Rb9f4dce5b564489f"/>
          </a:graphicData>
        </a:graphic>
      </p:graphicFrame>
      <p:sp>
        <p:nvSpPr>
          <p:cNvPr id="13" name="">
            <a:extLst xmlns:a="http://schemas.openxmlformats.org/drawingml/2006/main">
              <a:ext uri="{FF2B5EF4-FFF2-40B4-BE49-F238E27FC236}">
                <a16:creationId xmlns:a16="http://schemas.microsoft.com/office/drawing/2014/main" id="{C6C722CE-39F7-44D6-BF64-CBE61D958A7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6ABA4"/>
          </a:solidFill>
          <a:ln xmlns:a="http://schemas.openxmlformats.org/drawingml/2006/main" w="0">
            <a:solidFill>
              <a:srgbClr val="26ABA4"/>
            </a:solidFill>
            <a:prstDash val="solid"/>
          </a:ln>
        </p:spPr>
      </p:sp>
    </p:spTree>
    <p:extLst>
      <p:ext uri="{BB962C8B-B14F-4D97-AF65-F5344CB8AC3E}">
        <p14:creationId xmlns:p14="http://schemas.microsoft.com/office/powerpoint/2010/main" val="25595812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9" name="Slide-Number-Placeholder-3-2">
            <a:extLst xmlns:a="http://schemas.openxmlformats.org/drawingml/2006/main">
              <a:ext uri="{FF2B5EF4-FFF2-40B4-BE49-F238E27FC236}">
                <a16:creationId xmlns:a16="http://schemas.microsoft.com/office/drawing/2014/main" id="{2346209A-49FE-4E7B-BB26-D38ECF32F6B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Title-7-3">
            <a:extLst xmlns:a="http://schemas.openxmlformats.org/drawingml/2006/main">
              <a:ext uri="{FF2B5EF4-FFF2-40B4-BE49-F238E27FC236}">
                <a16:creationId xmlns:a16="http://schemas.microsoft.com/office/drawing/2014/main" id="{85D8AD7A-308B-45BF-9EEF-CDB672B610B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A time-aware model predicts price with strong held-out accuracy</a:t>
            </a:r>
          </a:p>
        </p:txBody>
      </p:sp>
      <p:sp>
        <p:nvSpPr>
          <p:cNvPr id="3" name="Rounded-Rectangle-4-4">
            <a:extLst xmlns:a="http://schemas.openxmlformats.org/drawingml/2006/main">
              <a:ext uri="{FF2B5EF4-FFF2-40B4-BE49-F238E27FC236}">
                <a16:creationId xmlns:a16="http://schemas.microsoft.com/office/drawing/2014/main" id="{EBBB1370-38BB-4434-9222-59DC60E6FDAD}"/>
              </a:ext>
            </a:extLst>
          </p:cNvPr>
          <p:cNvSpPr>
            <a:spLocks xmlns:a="http://schemas.openxmlformats.org/drawingml/2006/main" noGrp="1"/>
          </p:cNvSpPr>
          <p:nvPr/>
        </p:nvSpPr>
        <p:spPr>
          <a:xfrm xmlns:a="http://schemas.openxmlformats.org/drawingml/2006/main">
            <a:off x="393668" y="2031968"/>
            <a:ext cx="3568732" cy="3962400"/>
          </a:xfrm>
          <a:prstGeom xmlns:a="http://schemas.openxmlformats.org/drawingml/2006/main" prst="roundRect">
            <a:avLst>
              <a:gd name="adj" fmla="val 2135"/>
            </a:avLst>
          </a:prstGeom>
          <a:solidFill xmlns:a="http://schemas.openxmlformats.org/drawingml/2006/main">
            <a:srgbClr val="F2F2F2"/>
          </a:solidFill>
        </p:spPr>
      </p:sp>
      <p:sp>
        <p:nvSpPr>
          <p:cNvPr id="4" name="Content-Placeholder-8-5">
            <a:extLst xmlns:a="http://schemas.openxmlformats.org/drawingml/2006/main">
              <a:ext uri="{FF2B5EF4-FFF2-40B4-BE49-F238E27FC236}">
                <a16:creationId xmlns:a16="http://schemas.microsoft.com/office/drawing/2014/main" id="{B7797CEA-186A-463D-837D-20EE2B41CE17}"/>
              </a:ext>
            </a:extLst>
          </p:cNvPr>
          <p:cNvSpPr>
            <a:spLocks xmlns:a="http://schemas.openxmlformats.org/drawingml/2006/main" noGrp="1"/>
          </p:cNvSpPr>
          <p:nvPr/>
        </p:nvSpPr>
        <p:spPr>
          <a:xfrm xmlns:a="http://schemas.openxmlformats.org/drawingml/2006/main">
            <a:off x="643700" y="4784312"/>
            <a:ext cx="3068669"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26ABA4"/>
                </a:solidFill>
                <a:latin typeface="Helvetica Neue"/>
                <a:ea typeface="Helvetica Neue"/>
                <a:cs typeface="Helvetica Neue"/>
              </a:rPr>
              <a:t>Test R²</a:t>
            </a:r>
          </a:p>
        </p:txBody>
      </p:sp>
      <p:sp>
        <p:nvSpPr>
          <p:cNvPr id="5" name="Content-Placeholder-8-6">
            <a:extLst xmlns:a="http://schemas.openxmlformats.org/drawingml/2006/main">
              <a:ext uri="{FF2B5EF4-FFF2-40B4-BE49-F238E27FC236}">
                <a16:creationId xmlns:a16="http://schemas.microsoft.com/office/drawing/2014/main" id="{BF7E0F3E-B3DA-4EB2-887E-2CA5E727A3CF}"/>
              </a:ext>
            </a:extLst>
          </p:cNvPr>
          <p:cNvSpPr>
            <a:spLocks xmlns:a="http://schemas.openxmlformats.org/drawingml/2006/main" noGrp="1"/>
          </p:cNvSpPr>
          <p:nvPr/>
        </p:nvSpPr>
        <p:spPr>
          <a:xfrm xmlns:a="http://schemas.openxmlformats.org/drawingml/2006/main">
            <a:off x="643700" y="5282184"/>
            <a:ext cx="1705737" cy="48187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0.943</a:t>
            </a:r>
          </a:p>
        </p:txBody>
      </p:sp>
      <p:sp>
        <p:nvSpPr>
          <p:cNvPr id="6" name="Content-Placeholder-8-7">
            <a:extLst xmlns:a="http://schemas.openxmlformats.org/drawingml/2006/main">
              <a:ext uri="{FF2B5EF4-FFF2-40B4-BE49-F238E27FC236}">
                <a16:creationId xmlns:a16="http://schemas.microsoft.com/office/drawing/2014/main" id="{DB60E27B-C4FF-435E-AF71-F2BD47776161}"/>
              </a:ext>
            </a:extLst>
          </p:cNvPr>
          <p:cNvSpPr>
            <a:spLocks xmlns:a="http://schemas.openxmlformats.org/drawingml/2006/main" noGrp="1"/>
          </p:cNvSpPr>
          <p:nvPr/>
        </p:nvSpPr>
        <p:spPr>
          <a:xfrm xmlns:a="http://schemas.openxmlformats.org/drawingml/2006/main">
            <a:off x="2349532" y="5424773"/>
            <a:ext cx="1362837"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125" b="0">
                <a:solidFill>
                  <a:srgbClr val="000000"/>
                </a:solidFill>
                <a:latin typeface="Helvetica Neue"/>
                <a:ea typeface="Helvetica Neue"/>
                <a:cs typeface="Helvetica Neue"/>
              </a:rPr>
              <a:t>explained variance</a:t>
            </a:r>
          </a:p>
        </p:txBody>
      </p:sp>
      <p:sp>
        <p:nvSpPr>
          <p:cNvPr id="7" name="Rounded-Rectangle-1-9">
            <a:extLst xmlns:a="http://schemas.openxmlformats.org/drawingml/2006/main">
              <a:ext uri="{FF2B5EF4-FFF2-40B4-BE49-F238E27FC236}">
                <a16:creationId xmlns:a16="http://schemas.microsoft.com/office/drawing/2014/main" id="{3E2852E4-EE07-4CA7-9225-A14C5C1F1DDE}"/>
              </a:ext>
            </a:extLst>
          </p:cNvPr>
          <p:cNvSpPr>
            <a:spLocks xmlns:a="http://schemas.openxmlformats.org/drawingml/2006/main" noGrp="1"/>
          </p:cNvSpPr>
          <p:nvPr/>
        </p:nvSpPr>
        <p:spPr>
          <a:xfrm xmlns:a="http://schemas.openxmlformats.org/drawingml/2006/main">
            <a:off x="4305300" y="2031968"/>
            <a:ext cx="3568732" cy="39624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10">
            <a:extLst xmlns:a="http://schemas.openxmlformats.org/drawingml/2006/main">
              <a:ext uri="{FF2B5EF4-FFF2-40B4-BE49-F238E27FC236}">
                <a16:creationId xmlns:a16="http://schemas.microsoft.com/office/drawing/2014/main" id="{8C4CEF2E-9E58-4AC5-AE43-31C500E49319}"/>
              </a:ext>
            </a:extLst>
          </p:cNvPr>
          <p:cNvSpPr>
            <a:spLocks xmlns:a="http://schemas.openxmlformats.org/drawingml/2006/main" noGrp="1"/>
          </p:cNvSpPr>
          <p:nvPr/>
        </p:nvSpPr>
        <p:spPr>
          <a:xfrm xmlns:a="http://schemas.openxmlformats.org/drawingml/2006/main">
            <a:off x="4555331" y="2316004"/>
            <a:ext cx="3068669" cy="2040065"/>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800"/>
              </a:spcAft>
              <a:buNone/>
              <a:defRPr sz="24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Chronological test</a:t>
            </a:r>
          </a:p>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The final 210 observations are held out in time order. Missing clock hours remain gaps rather than being fabricated.</a:t>
            </a:r>
          </a:p>
        </p:txBody>
      </p:sp>
      <p:sp>
        <p:nvSpPr>
          <p:cNvPr id="9" name="Content-Placeholder-8-11">
            <a:extLst xmlns:a="http://schemas.openxmlformats.org/drawingml/2006/main">
              <a:ext uri="{FF2B5EF4-FFF2-40B4-BE49-F238E27FC236}">
                <a16:creationId xmlns:a16="http://schemas.microsoft.com/office/drawing/2014/main" id="{9CA2FB77-186F-41C5-AFF4-4F93B2F139E7}"/>
              </a:ext>
            </a:extLst>
          </p:cNvPr>
          <p:cNvSpPr>
            <a:spLocks xmlns:a="http://schemas.openxmlformats.org/drawingml/2006/main" noGrp="1"/>
          </p:cNvSpPr>
          <p:nvPr/>
        </p:nvSpPr>
        <p:spPr>
          <a:xfrm xmlns:a="http://schemas.openxmlformats.org/drawingml/2006/main">
            <a:off x="4555331" y="4784312"/>
            <a:ext cx="3068669"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F28E2B"/>
                </a:solidFill>
                <a:latin typeface="Helvetica Neue"/>
                <a:ea typeface="Helvetica Neue"/>
                <a:cs typeface="Helvetica Neue"/>
              </a:rPr>
              <a:t>Test RMSE</a:t>
            </a:r>
          </a:p>
        </p:txBody>
      </p:sp>
      <p:sp>
        <p:nvSpPr>
          <p:cNvPr id="10" name="Content-Placeholder-8-12">
            <a:extLst xmlns:a="http://schemas.openxmlformats.org/drawingml/2006/main">
              <a:ext uri="{FF2B5EF4-FFF2-40B4-BE49-F238E27FC236}">
                <a16:creationId xmlns:a16="http://schemas.microsoft.com/office/drawing/2014/main" id="{765C4DFB-562C-4565-B4E1-639C4DF34231}"/>
              </a:ext>
            </a:extLst>
          </p:cNvPr>
          <p:cNvSpPr>
            <a:spLocks xmlns:a="http://schemas.openxmlformats.org/drawingml/2006/main" noGrp="1"/>
          </p:cNvSpPr>
          <p:nvPr/>
        </p:nvSpPr>
        <p:spPr>
          <a:xfrm xmlns:a="http://schemas.openxmlformats.org/drawingml/2006/main">
            <a:off x="4555331" y="5282184"/>
            <a:ext cx="1705737" cy="48187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€0.0189</a:t>
            </a:r>
          </a:p>
        </p:txBody>
      </p:sp>
      <p:sp>
        <p:nvSpPr>
          <p:cNvPr id="11" name="Content-Placeholder-8-13">
            <a:extLst xmlns:a="http://schemas.openxmlformats.org/drawingml/2006/main">
              <a:ext uri="{FF2B5EF4-FFF2-40B4-BE49-F238E27FC236}">
                <a16:creationId xmlns:a16="http://schemas.microsoft.com/office/drawing/2014/main" id="{F73D51C1-6149-4E68-93C2-6B886540CDA6}"/>
              </a:ext>
            </a:extLst>
          </p:cNvPr>
          <p:cNvSpPr>
            <a:spLocks xmlns:a="http://schemas.openxmlformats.org/drawingml/2006/main" noGrp="1"/>
          </p:cNvSpPr>
          <p:nvPr/>
        </p:nvSpPr>
        <p:spPr>
          <a:xfrm xmlns:a="http://schemas.openxmlformats.org/drawingml/2006/main">
            <a:off x="6261068" y="5424773"/>
            <a:ext cx="1362837"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125" b="0">
                <a:solidFill>
                  <a:srgbClr val="000000"/>
                </a:solidFill>
                <a:latin typeface="Helvetica Neue"/>
                <a:ea typeface="Helvetica Neue"/>
                <a:cs typeface="Helvetica Neue"/>
              </a:rPr>
              <a:t>per kWh</a:t>
            </a:r>
          </a:p>
        </p:txBody>
      </p:sp>
      <p:sp>
        <p:nvSpPr>
          <p:cNvPr id="12" name="Rounded-Rectangle-12-15">
            <a:extLst xmlns:a="http://schemas.openxmlformats.org/drawingml/2006/main">
              <a:ext uri="{FF2B5EF4-FFF2-40B4-BE49-F238E27FC236}">
                <a16:creationId xmlns:a16="http://schemas.microsoft.com/office/drawing/2014/main" id="{D7B58131-8F46-47ED-91E2-A0C37277565A}"/>
              </a:ext>
            </a:extLst>
          </p:cNvPr>
          <p:cNvSpPr>
            <a:spLocks xmlns:a="http://schemas.openxmlformats.org/drawingml/2006/main" noGrp="1"/>
          </p:cNvSpPr>
          <p:nvPr/>
        </p:nvSpPr>
        <p:spPr>
          <a:xfrm xmlns:a="http://schemas.openxmlformats.org/drawingml/2006/main">
            <a:off x="8216932" y="2031968"/>
            <a:ext cx="3568732" cy="3962400"/>
          </a:xfrm>
          <a:prstGeom xmlns:a="http://schemas.openxmlformats.org/drawingml/2006/main" prst="roundRect">
            <a:avLst>
              <a:gd name="adj" fmla="val 2135"/>
            </a:avLst>
          </a:prstGeom>
          <a:solidFill xmlns:a="http://schemas.openxmlformats.org/drawingml/2006/main">
            <a:srgbClr val="F2F2F2"/>
          </a:solidFill>
        </p:spPr>
      </p:sp>
      <p:sp>
        <p:nvSpPr>
          <p:cNvPr id="13" name="Content-Placeholder-8-16">
            <a:extLst xmlns:a="http://schemas.openxmlformats.org/drawingml/2006/main">
              <a:ext uri="{FF2B5EF4-FFF2-40B4-BE49-F238E27FC236}">
                <a16:creationId xmlns:a16="http://schemas.microsoft.com/office/drawing/2014/main" id="{A22A2D10-9DB0-40CD-BAD3-FDFD3FA67192}"/>
              </a:ext>
            </a:extLst>
          </p:cNvPr>
          <p:cNvSpPr>
            <a:spLocks xmlns:a="http://schemas.openxmlformats.org/drawingml/2006/main" noGrp="1"/>
          </p:cNvSpPr>
          <p:nvPr/>
        </p:nvSpPr>
        <p:spPr>
          <a:xfrm xmlns:a="http://schemas.openxmlformats.org/drawingml/2006/main">
            <a:off x="8466963" y="2316004"/>
            <a:ext cx="3068669" cy="2040065"/>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Aft>
                <a:spcPts val="800"/>
              </a:spcAft>
              <a:buNone/>
              <a:defRPr sz="24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Persistence baseline</a:t>
            </a:r>
          </a:p>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The model is compared with a simple previous-price prediction so the improvement has a practical reference.</a:t>
            </a:r>
          </a:p>
        </p:txBody>
      </p:sp>
      <p:sp>
        <p:nvSpPr>
          <p:cNvPr id="14" name="Content-Placeholder-8-17">
            <a:extLst xmlns:a="http://schemas.openxmlformats.org/drawingml/2006/main">
              <a:ext uri="{FF2B5EF4-FFF2-40B4-BE49-F238E27FC236}">
                <a16:creationId xmlns:a16="http://schemas.microsoft.com/office/drawing/2014/main" id="{71E4AF47-BE41-4691-B387-18DB5A67D74E}"/>
              </a:ext>
            </a:extLst>
          </p:cNvPr>
          <p:cNvSpPr>
            <a:spLocks xmlns:a="http://schemas.openxmlformats.org/drawingml/2006/main" noGrp="1"/>
          </p:cNvSpPr>
          <p:nvPr/>
        </p:nvSpPr>
        <p:spPr>
          <a:xfrm xmlns:a="http://schemas.openxmlformats.org/drawingml/2006/main">
            <a:off x="8466963" y="4784312"/>
            <a:ext cx="3068669"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350" b="1">
                <a:solidFill>
                  <a:srgbClr val="C9AEF2"/>
                </a:solidFill>
                <a:latin typeface="Helvetica Neue"/>
                <a:ea typeface="Helvetica Neue"/>
                <a:cs typeface="Helvetica Neue"/>
              </a:rPr>
              <a:t>RMSE improvement</a:t>
            </a:r>
          </a:p>
        </p:txBody>
      </p:sp>
      <p:sp>
        <p:nvSpPr>
          <p:cNvPr id="15" name="Content-Placeholder-8-18">
            <a:extLst xmlns:a="http://schemas.openxmlformats.org/drawingml/2006/main">
              <a:ext uri="{FF2B5EF4-FFF2-40B4-BE49-F238E27FC236}">
                <a16:creationId xmlns:a16="http://schemas.microsoft.com/office/drawing/2014/main" id="{DF37EC9E-5469-4E89-8E1C-209AFFE655B4}"/>
              </a:ext>
            </a:extLst>
          </p:cNvPr>
          <p:cNvSpPr>
            <a:spLocks xmlns:a="http://schemas.openxmlformats.org/drawingml/2006/main" noGrp="1"/>
          </p:cNvSpPr>
          <p:nvPr/>
        </p:nvSpPr>
        <p:spPr>
          <a:xfrm xmlns:a="http://schemas.openxmlformats.org/drawingml/2006/main">
            <a:off x="8466963" y="5282184"/>
            <a:ext cx="1705737" cy="48187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≈40%</a:t>
            </a:r>
          </a:p>
        </p:txBody>
      </p:sp>
      <p:sp>
        <p:nvSpPr>
          <p:cNvPr id="16" name="Content-Placeholder-8-19">
            <a:extLst xmlns:a="http://schemas.openxmlformats.org/drawingml/2006/main">
              <a:ext uri="{FF2B5EF4-FFF2-40B4-BE49-F238E27FC236}">
                <a16:creationId xmlns:a16="http://schemas.microsoft.com/office/drawing/2014/main" id="{972CD960-CAD1-4591-8831-42BF359AA810}"/>
              </a:ext>
            </a:extLst>
          </p:cNvPr>
          <p:cNvSpPr>
            <a:spLocks xmlns:a="http://schemas.openxmlformats.org/drawingml/2006/main" noGrp="1"/>
          </p:cNvSpPr>
          <p:nvPr/>
        </p:nvSpPr>
        <p:spPr>
          <a:xfrm xmlns:a="http://schemas.openxmlformats.org/drawingml/2006/main">
            <a:off x="10172700" y="5424773"/>
            <a:ext cx="1362837"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125" b="0">
                <a:solidFill>
                  <a:srgbClr val="000000"/>
                </a:solidFill>
                <a:latin typeface="Helvetica Neue"/>
                <a:ea typeface="Helvetica Neue"/>
                <a:cs typeface="Helvetica Neue"/>
              </a:rPr>
              <a:t>vs persistence</a:t>
            </a:r>
          </a:p>
        </p:txBody>
      </p:sp>
      <p:sp>
        <p:nvSpPr>
          <p:cNvPr id="17" name="Content-Placeholder-8-21">
            <a:extLst xmlns:a="http://schemas.openxmlformats.org/drawingml/2006/main">
              <a:ext uri="{FF2B5EF4-FFF2-40B4-BE49-F238E27FC236}">
                <a16:creationId xmlns:a16="http://schemas.microsoft.com/office/drawing/2014/main" id="{B93DEAF2-5EF1-47DE-9217-B3F5C1511D0A}"/>
              </a:ext>
            </a:extLst>
          </p:cNvPr>
          <p:cNvSpPr>
            <a:spLocks xmlns:a="http://schemas.openxmlformats.org/drawingml/2006/main" noGrp="1"/>
          </p:cNvSpPr>
          <p:nvPr/>
        </p:nvSpPr>
        <p:spPr>
          <a:xfrm xmlns:a="http://schemas.openxmlformats.org/drawingml/2006/main">
            <a:off x="642176" y="2316194"/>
            <a:ext cx="3070193" cy="2039969"/>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lnSpc>
                <a:spcPct val="108000"/>
              </a:lnSpc>
              <a:spcAft>
                <a:spcPts val="800"/>
              </a:spcAft>
              <a:buNone/>
              <a:defRPr sz="24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Gradient Boosting</a:t>
            </a:r>
          </a:p>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Seventeen calendar, weather, generation, carbon, and lag features. Hyperparameters are tuned inside the training period.</a:t>
            </a:r>
          </a:p>
        </p:txBody>
      </p:sp>
      <p:sp>
        <p:nvSpPr>
          <p:cNvPr id="18" name="">
            <a:extLst xmlns:a="http://schemas.openxmlformats.org/drawingml/2006/main">
              <a:ext uri="{FF2B5EF4-FFF2-40B4-BE49-F238E27FC236}">
                <a16:creationId xmlns:a16="http://schemas.microsoft.com/office/drawing/2014/main" id="{E80F62CA-F6B7-4EE1-8346-FDB616B75E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C9AEF2"/>
          </a:solidFill>
          <a:ln xmlns:a="http://schemas.openxmlformats.org/drawingml/2006/main" w="0">
            <a:solidFill>
              <a:srgbClr val="C9AEF2"/>
            </a:solidFill>
            <a:prstDash val="solid"/>
          </a:ln>
        </p:spPr>
      </p:sp>
    </p:spTree>
    <p:extLst>
      <p:ext uri="{BB962C8B-B14F-4D97-AF65-F5344CB8AC3E}">
        <p14:creationId xmlns:p14="http://schemas.microsoft.com/office/powerpoint/2010/main" val="12982974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Google-Shape-534-p58-1">
            <a:extLst xmlns:a="http://schemas.openxmlformats.org/drawingml/2006/main">
              <a:ext uri="{FF2B5EF4-FFF2-40B4-BE49-F238E27FC236}">
                <a16:creationId xmlns:a16="http://schemas.microsoft.com/office/drawing/2014/main" id="{CC8ADF76-DD70-4330-A199-FDB413DF743B}"/>
              </a:ext>
            </a:extLst>
          </p:cNvPr>
          <p:cNvSpPr>
            <a:spLocks xmlns:a="http://schemas.openxmlformats.org/drawingml/2006/main" noGrp="1"/>
          </p:cNvSpPr>
          <p:nvPr/>
        </p:nvSpPr>
        <p:spPr>
          <a:xfrm xmlns:a="http://schemas.openxmlformats.org/drawingml/2006/main">
            <a:off x="393668" y="1838801"/>
            <a:ext cx="5533168" cy="4155567"/>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900"/>
              </a:spcAft>
              <a:buNone/>
              <a:defRPr sz="2400">
                <a:solidFill>
                  <a:srgbClr val="000000"/>
                </a:solidFill>
                <a:latin typeface="Helvetica Neue"/>
                <a:ea typeface="Helvetica Neue"/>
                <a:cs typeface="Helvetica Neue"/>
              </a:defRPr>
            </a:pPr>
            <a:r>
              <a:rPr sz="2100" b="1">
                <a:solidFill>
                  <a:srgbClr val="C9AEF2"/>
                </a:solidFill>
                <a:latin typeface="Helvetica Neue"/>
                <a:ea typeface="Helvetica Neue"/>
                <a:cs typeface="Helvetica Neue"/>
              </a:rPr>
              <a:t>Tableau dashboard</a:t>
            </a:r>
          </a:p>
          <a:p xmlns:a="http://schemas.openxmlformats.org/drawingml/2006/main">
            <a:pPr algn="l">
              <a:lnSpc>
                <a:spcPct val="108000"/>
              </a:lnSpc>
              <a:buNone/>
              <a:defRPr sz="24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Executive KPIs, price and renewable patterns, price–carbon evidence, and the highlighted 12:00–16:00 recommendation.</a:t>
            </a:r>
          </a:p>
          <a:p xmlns:a="http://schemas.openxmlformats.org/drawingml/2006/main">
            <a:pPr algn="l">
              <a:lnSpc>
                <a:spcPct val="108000"/>
              </a:lnSpc>
              <a:spcBef>
                <a:spcPts val="900"/>
              </a:spcBef>
              <a:buNone/>
              <a:defRPr sz="240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A refreshable CSV keeps the workbook portable and reviewable.</a:t>
            </a:r>
          </a:p>
          <a:p xmlns:a="http://schemas.openxmlformats.org/drawingml/2006/main">
            <a:pPr algn="l">
              <a:lnSpc>
                <a:spcPct val="108000"/>
              </a:lnSpc>
              <a:spcBef>
                <a:spcPts val="700"/>
              </a:spcBef>
              <a:buNone/>
              <a:defRPr sz="2400">
                <a:solidFill>
                  <a:srgbClr val="000000"/>
                </a:solidFill>
                <a:latin typeface="Helvetica Neue"/>
                <a:ea typeface="Helvetica Neue"/>
                <a:cs typeface="Helvetica Neue"/>
              </a:defRPr>
            </a:pPr>
            <a:r>
              <a:rPr sz="1350" b="0">
                <a:solidFill>
                  <a:srgbClr val="555555"/>
                </a:solidFill>
                <a:latin typeface="Helvetica Neue"/>
                <a:ea typeface="Helvetica Neue"/>
                <a:cs typeface="Helvetica Neue"/>
              </a:rPr>
              <a:t>Deliverable: dashboard/smart_power_dashboard.twb</a:t>
            </a:r>
          </a:p>
        </p:txBody>
      </p:sp>
      <p:sp>
        <p:nvSpPr>
          <p:cNvPr id="2" name="Google-Shape-532-p58-3">
            <a:extLst xmlns:a="http://schemas.openxmlformats.org/drawingml/2006/main">
              <a:ext uri="{FF2B5EF4-FFF2-40B4-BE49-F238E27FC236}">
                <a16:creationId xmlns:a16="http://schemas.microsoft.com/office/drawing/2014/main" id="{D5D058B8-6A3A-4C1E-BCDA-1B65DD7E9FA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3" name="Google-Shape-533-p58-4">
            <a:extLst xmlns:a="http://schemas.openxmlformats.org/drawingml/2006/main">
              <a:ext uri="{FF2B5EF4-FFF2-40B4-BE49-F238E27FC236}">
                <a16:creationId xmlns:a16="http://schemas.microsoft.com/office/drawing/2014/main" id="{ED024B4C-AA68-493D-86CC-29E74D70F65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The analysis is delivered as products, not only notebooks</a:t>
            </a:r>
          </a:p>
        </p:txBody>
      </p:sp>
      <p:sp>
        <p:nvSpPr>
          <p:cNvPr id="4" name="Google-Shape-534-p58-5">
            <a:extLst xmlns:a="http://schemas.openxmlformats.org/drawingml/2006/main">
              <a:ext uri="{FF2B5EF4-FFF2-40B4-BE49-F238E27FC236}">
                <a16:creationId xmlns:a16="http://schemas.microsoft.com/office/drawing/2014/main" id="{2C3A07E8-2914-487F-AE3B-940B33DA9AA6}"/>
              </a:ext>
            </a:extLst>
          </p:cNvPr>
          <p:cNvSpPr>
            <a:spLocks xmlns:a="http://schemas.openxmlformats.org/drawingml/2006/main" noGrp="1"/>
          </p:cNvSpPr>
          <p:nvPr/>
        </p:nvSpPr>
        <p:spPr>
          <a:xfrm xmlns:a="http://schemas.openxmlformats.org/drawingml/2006/main">
            <a:off x="6265069" y="2192655"/>
            <a:ext cx="5537168" cy="380171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Aft>
                <a:spcPts val="900"/>
              </a:spcAft>
              <a:buNone/>
              <a:defRPr sz="2400">
                <a:solidFill>
                  <a:srgbClr val="000000"/>
                </a:solidFill>
                <a:latin typeface="Helvetica Neue"/>
                <a:ea typeface="Helvetica Neue"/>
                <a:cs typeface="Helvetica Neue"/>
              </a:defRPr>
            </a:pPr>
            <a:r>
              <a:rPr sz="2100" b="1">
                <a:solidFill>
                  <a:srgbClr val="26ABA4"/>
                </a:solidFill>
                <a:latin typeface="Helvetica Neue"/>
                <a:ea typeface="Helvetica Neue"/>
                <a:cs typeface="Helvetica Neue"/>
              </a:rPr>
              <a:t>Streamlit prototype</a:t>
            </a:r>
          </a:p>
          <a:p xmlns:a="http://schemas.openxmlformats.org/drawingml/2006/main">
            <a:pPr algn="l">
              <a:lnSpc>
                <a:spcPct val="108000"/>
              </a:lnSpc>
              <a:buNone/>
              <a:defRPr sz="24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Interactive four-hour window selection, objective weighting, device/EV comparison, and weekday-hour heatmap.</a:t>
            </a:r>
          </a:p>
          <a:p xmlns:a="http://schemas.openxmlformats.org/drawingml/2006/main">
            <a:pPr algn="l">
              <a:lnSpc>
                <a:spcPct val="108000"/>
              </a:lnSpc>
              <a:spcBef>
                <a:spcPts val="900"/>
              </a:spcBef>
              <a:buNone/>
              <a:defRPr sz="240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The interface is explicitly labelled historical rather than live.</a:t>
            </a:r>
          </a:p>
        </p:txBody>
      </p:sp>
      <p:sp>
        <p:nvSpPr>
          <p:cNvPr id="5" name="">
            <a:extLst xmlns:a="http://schemas.openxmlformats.org/drawingml/2006/main">
              <a:ext uri="{FF2B5EF4-FFF2-40B4-BE49-F238E27FC236}">
                <a16:creationId xmlns:a16="http://schemas.microsoft.com/office/drawing/2014/main" id="{DD1791C6-65E7-45B1-B16C-D0750E82BE8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6ABA4"/>
          </a:solidFill>
          <a:ln xmlns:a="http://schemas.openxmlformats.org/drawingml/2006/main" w="0">
            <a:solidFill>
              <a:srgbClr val="26ABA4"/>
            </a:solidFill>
            <a:prstDash val="solid"/>
          </a:ln>
        </p:spPr>
      </p:sp>
    </p:spTree>
    <p:extLst>
      <p:ext uri="{BB962C8B-B14F-4D97-AF65-F5344CB8AC3E}">
        <p14:creationId xmlns:p14="http://schemas.microsoft.com/office/powerpoint/2010/main" val="12985531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366D085F-1243-4FEC-81F4-288B3DD648D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2" name="Google-Shape-533-p58-3">
            <a:extLst xmlns:a="http://schemas.openxmlformats.org/drawingml/2006/main">
              <a:ext uri="{FF2B5EF4-FFF2-40B4-BE49-F238E27FC236}">
                <a16:creationId xmlns:a16="http://schemas.microsoft.com/office/drawing/2014/main" id="{D7CFCB56-CE99-446C-80A7-85238BE3C2A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00">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What the result can—and cannot—say</a:t>
            </a:r>
          </a:p>
        </p:txBody>
      </p:sp>
      <p:sp>
        <p:nvSpPr>
          <p:cNvPr id="3" name="Google-Shape-534-p58-4">
            <a:extLst xmlns:a="http://schemas.openxmlformats.org/drawingml/2006/main">
              <a:ext uri="{FF2B5EF4-FFF2-40B4-BE49-F238E27FC236}">
                <a16:creationId xmlns:a16="http://schemas.microsoft.com/office/drawing/2014/main" id="{C83D6805-2C57-4FE7-A7D1-9947F7740AE2}"/>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The recommendation is useful within its observed context, but it should not be generalized without qualification.</a:t>
            </a:r>
          </a:p>
        </p:txBody>
      </p:sp>
      <p:sp>
        <p:nvSpPr>
          <p:cNvPr id="4" name="Content-Placeholder-10-5">
            <a:extLst xmlns:a="http://schemas.openxmlformats.org/drawingml/2006/main">
              <a:ext uri="{FF2B5EF4-FFF2-40B4-BE49-F238E27FC236}">
                <a16:creationId xmlns:a16="http://schemas.microsoft.com/office/drawing/2014/main" id="{8015C0D5-750E-491D-864C-824708ED1153}"/>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68-day seasonal sample</a:t>
            </a:r>
          </a:p>
        </p:txBody>
      </p:sp>
      <p:sp>
        <p:nvSpPr>
          <p:cNvPr id="5" name="Google-Shape-340-p61-6">
            <a:extLst xmlns:a="http://schemas.openxmlformats.org/drawingml/2006/main">
              <a:ext uri="{FF2B5EF4-FFF2-40B4-BE49-F238E27FC236}">
                <a16:creationId xmlns:a16="http://schemas.microsoft.com/office/drawing/2014/main" id="{30A3BCD6-B49F-4EEA-9EA7-99DE6D51C392}"/>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039C7BC6-1AA4-49E4-BF1C-454C8CA30426}"/>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8000"/>
              </a:lnSpc>
              <a:spcAft>
                <a:spcPts val="800"/>
              </a:spcAft>
              <a:buNone/>
              <a:defRPr sz="1800">
                <a:solidFill>
                  <a:srgbClr val="000000"/>
                </a:solidFill>
                <a:latin typeface="Helvetica Neue"/>
                <a:ea typeface="Helvetica Neue"/>
                <a:cs typeface="Helvetica Neue"/>
              </a:defRPr>
            </a:pPr>
            <a:r>
              <a:rPr sz="1950" b="1">
                <a:solidFill>
                  <a:srgbClr val="26ABA4"/>
                </a:solidFill>
                <a:latin typeface="Helvetica Neue"/>
                <a:ea typeface="Helvetica Neue"/>
                <a:cs typeface="Helvetica Neue"/>
              </a:rPr>
              <a:t>Best supported claim</a:t>
            </a:r>
          </a:p>
          <a:p xmlns:a="http://schemas.openxmlformats.org/drawingml/2006/main">
            <a:pPr algn="l">
              <a:lnSpc>
                <a:spcPct val="108000"/>
              </a:lnSpc>
              <a:buNone/>
              <a:defRPr sz="180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Within the validated late-spring/summer sample, 12:00–16:00 provides the strongest practical balance of low price and low measured carbon intensity.</a:t>
            </a:r>
          </a:p>
        </p:txBody>
      </p:sp>
      <p:sp>
        <p:nvSpPr>
          <p:cNvPr id="7" name="Content-Placeholder-10-8">
            <a:extLst xmlns:a="http://schemas.openxmlformats.org/drawingml/2006/main">
              <a:ext uri="{FF2B5EF4-FFF2-40B4-BE49-F238E27FC236}">
                <a16:creationId xmlns:a16="http://schemas.microsoft.com/office/drawing/2014/main" id="{2904CEF1-70BD-40CD-BE60-B18B9E336899}"/>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460 missing clock hours preserved as gaps</a:t>
            </a:r>
          </a:p>
        </p:txBody>
      </p:sp>
      <p:sp>
        <p:nvSpPr>
          <p:cNvPr id="8" name="Google-Shape-340-p61-9">
            <a:extLst xmlns:a="http://schemas.openxmlformats.org/drawingml/2006/main">
              <a:ext uri="{FF2B5EF4-FFF2-40B4-BE49-F238E27FC236}">
                <a16:creationId xmlns:a16="http://schemas.microsoft.com/office/drawing/2014/main" id="{BE4EE411-6D19-4D22-9946-638AEB39A7FF}"/>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3A5F10C8-4D56-46C7-BCDC-2D9059266C12}"/>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Global life-cycle carbon methodology</a:t>
            </a:r>
          </a:p>
        </p:txBody>
      </p:sp>
      <p:sp>
        <p:nvSpPr>
          <p:cNvPr id="10" name="Google-Shape-340-p61-11">
            <a:extLst xmlns:a="http://schemas.openxmlformats.org/drawingml/2006/main">
              <a:ext uri="{FF2B5EF4-FFF2-40B4-BE49-F238E27FC236}">
                <a16:creationId xmlns:a16="http://schemas.microsoft.com/office/drawing/2014/main" id="{9C36DAF9-B1FA-4F7B-A276-BF57B0AC50BA}"/>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B326B54A-A05B-478E-816B-5FFE84496702}"/>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Correlations are not causal</a:t>
            </a:r>
          </a:p>
        </p:txBody>
      </p:sp>
      <p:sp>
        <p:nvSpPr>
          <p:cNvPr id="12" name="Google-Shape-340-p61-13">
            <a:extLst xmlns:a="http://schemas.openxmlformats.org/drawingml/2006/main">
              <a:ext uri="{FF2B5EF4-FFF2-40B4-BE49-F238E27FC236}">
                <a16:creationId xmlns:a16="http://schemas.microsoft.com/office/drawing/2014/main" id="{FEA7FCD3-5BA9-4865-A3AC-1699535A0A81}"/>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17C09904-01CB-4BC9-8D87-711D79AB4072}"/>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Historical planning, not live dispatch</a:t>
            </a:r>
          </a:p>
        </p:txBody>
      </p:sp>
      <p:sp>
        <p:nvSpPr>
          <p:cNvPr id="14" name="Google-Shape-340-p61-15">
            <a:extLst xmlns:a="http://schemas.openxmlformats.org/drawingml/2006/main">
              <a:ext uri="{FF2B5EF4-FFF2-40B4-BE49-F238E27FC236}">
                <a16:creationId xmlns:a16="http://schemas.microsoft.com/office/drawing/2014/main" id="{3F521735-FE59-4471-ACCF-DA64D8A8EBC5}"/>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5" name="">
            <a:extLst xmlns:a="http://schemas.openxmlformats.org/drawingml/2006/main">
              <a:ext uri="{FF2B5EF4-FFF2-40B4-BE49-F238E27FC236}">
                <a16:creationId xmlns:a16="http://schemas.microsoft.com/office/drawing/2014/main" id="{1110AC72-E586-471C-BDC3-BB20E2F3219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28E2B"/>
          </a:solidFill>
          <a:ln xmlns:a="http://schemas.openxmlformats.org/drawingml/2006/main" w="0">
            <a:solidFill>
              <a:srgbClr val="F28E2B"/>
            </a:solidFill>
            <a:prstDash val="solid"/>
          </a:ln>
        </p:spPr>
      </p:sp>
    </p:spTree>
    <p:extLst>
      <p:ext uri="{BB962C8B-B14F-4D97-AF65-F5344CB8AC3E}">
        <p14:creationId xmlns:p14="http://schemas.microsoft.com/office/powerpoint/2010/main" val="4791439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AD0F6EF2-29F1-4F55-B2DD-BD415230FD0E}"/>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8000"/>
              </a:lnSpc>
              <a:buNone/>
              <a:defRPr sz="6000">
                <a:solidFill>
                  <a:srgbClr val="000000"/>
                </a:solidFill>
                <a:latin typeface="Helvetica Neue"/>
                <a:ea typeface="Helvetica Neue"/>
                <a:cs typeface="Helvetica Neue"/>
              </a:defRPr>
            </a:pPr>
            <a:r>
              <a:rPr sz="4950" b="1">
                <a:solidFill>
                  <a:srgbClr val="000000"/>
                </a:solidFill>
                <a:latin typeface="Helvetica Neue"/>
                <a:ea typeface="Helvetica Neue"/>
                <a:cs typeface="Helvetica Neue"/>
              </a:rPr>
              <a:t>Use flexible electricity
from 12:00 to 16:00</a:t>
            </a:r>
          </a:p>
        </p:txBody>
      </p:sp>
      <p:sp>
        <p:nvSpPr>
          <p:cNvPr id="2" name="Subtitle-4-2">
            <a:extLst xmlns:a="http://schemas.openxmlformats.org/drawingml/2006/main">
              <a:ext uri="{FF2B5EF4-FFF2-40B4-BE49-F238E27FC236}">
                <a16:creationId xmlns:a16="http://schemas.microsoft.com/office/drawing/2014/main" id="{AA56BE93-B2CA-4283-B9DE-398B22CE3244}"/>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Lower historical prices</a:t>
            </a:r>
          </a:p>
          <a:p xmlns:a="http://schemas.openxmlformats.org/drawingml/2006/main">
            <a:pPr algn="l">
              <a:lnSpc>
                <a:spcPct val="108000"/>
              </a:lnSpc>
              <a:buNone/>
              <a:defRPr sz="240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Lower measured carbon intensity</a:t>
            </a:r>
          </a:p>
          <a:p xmlns:a="http://schemas.openxmlformats.org/drawingml/2006/main">
            <a:pPr algn="l">
              <a:lnSpc>
                <a:spcPct val="108000"/>
              </a:lnSpc>
              <a:buNone/>
              <a:defRPr sz="240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One reproducible end-to-end workflow</a:t>
            </a:r>
          </a:p>
        </p:txBody>
      </p:sp>
      <p:sp>
        <p:nvSpPr>
          <p:cNvPr id="3" name="Subtitle-4-3">
            <a:extLst xmlns:a="http://schemas.openxmlformats.org/drawingml/2006/main">
              <a:ext uri="{FF2B5EF4-FFF2-40B4-BE49-F238E27FC236}">
                <a16:creationId xmlns:a16="http://schemas.microsoft.com/office/drawing/2014/main" id="{77C90B42-C01F-46FA-973E-862C3C6A36CF}"/>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buNone/>
              <a:defRPr sz="2400">
                <a:solidFill>
                  <a:srgbClr val="000000"/>
                </a:solidFill>
                <a:latin typeface="Helvetica Neue"/>
                <a:ea typeface="Helvetica Neue"/>
                <a:cs typeface="Helvetica Neue"/>
              </a:defRPr>
            </a:pPr>
            <a:r>
              <a:rPr sz="1800" b="1">
                <a:solidFill>
                  <a:srgbClr val="26ABA4"/>
                </a:solidFill>
                <a:latin typeface="Helvetica Neue"/>
                <a:ea typeface="Helvetica Neue"/>
                <a:cs typeface="Helvetica Neue"/>
              </a:rPr>
              <a:t>SMART POWER</a:t>
            </a:r>
          </a:p>
        </p:txBody>
      </p:sp>
      <p:sp>
        <p:nvSpPr>
          <p:cNvPr id="4" name="">
            <a:extLst xmlns:a="http://schemas.openxmlformats.org/drawingml/2006/main">
              <a:ext uri="{FF2B5EF4-FFF2-40B4-BE49-F238E27FC236}">
                <a16:creationId xmlns:a16="http://schemas.microsoft.com/office/drawing/2014/main" id="{6CEA1195-99F2-413A-957B-3FFBFF8CD96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6ABA4"/>
          </a:solidFill>
          <a:ln xmlns:a="http://schemas.openxmlformats.org/drawingml/2006/main" w="0">
            <a:solidFill>
              <a:srgbClr val="26ABA4"/>
            </a:solidFill>
            <a:prstDash val="solid"/>
          </a:ln>
        </p:spPr>
      </p:sp>
    </p:spTree>
    <p:extLst>
      <p:ext uri="{BB962C8B-B14F-4D97-AF65-F5344CB8AC3E}">
        <p14:creationId xmlns:p14="http://schemas.microsoft.com/office/powerpoint/2010/main" val="447560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2026-08-10T11:53:24.2710000Z</dcterms:created>
  <dcterms:modified xsi:type="dcterms:W3CDTF">2026-08-10T11:53:24.2710000Z</dcterms:modified>
</coreProperties>
</file>